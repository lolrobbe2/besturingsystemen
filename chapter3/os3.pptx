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18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76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7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123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3.xml" ContentType="application/vnd.openxmlformats-officedocument.presentationml.slide+xml"/>
  <Override PartName="/ppt/slides/slide107.xml" ContentType="application/vnd.openxmlformats-officedocument.presentationml.slide+xml"/>
  <Override PartName="/ppt/slides/slide70.xml" ContentType="application/vnd.openxmlformats-officedocument.presentationml.slide+xml"/>
  <Override PartName="/ppt/slides/slide72.xml" ContentType="application/vnd.openxmlformats-officedocument.presentationml.slide+xml"/>
  <Override PartName="/ppt/slides/slide115.xml" ContentType="application/vnd.openxmlformats-officedocument.presentationml.slide+xml"/>
  <Override PartName="/ppt/slides/slide69.xml" ContentType="application/vnd.openxmlformats-officedocument.presentationml.slide+xml"/>
  <Override PartName="/ppt/slides/slide181.xml" ContentType="application/vnd.openxmlformats-officedocument.presentationml.slide+xml"/>
  <Override PartName="/ppt/slides/slide67.xml" ContentType="application/vnd.openxmlformats-officedocument.presentationml.slide+xml"/>
  <Override PartName="/ppt/slides/slide124.xml" ContentType="application/vnd.openxmlformats-officedocument.presentationml.slide+xml"/>
  <Override PartName="/ppt/slides/slide112.xml" ContentType="application/vnd.openxmlformats-officedocument.presentationml.slide+xml"/>
  <Override PartName="/ppt/slides/slide111.xml" ContentType="application/vnd.openxmlformats-officedocument.presentationml.slide+xml"/>
  <Override PartName="/ppt/slides/slide121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122.xml" ContentType="application/vnd.openxmlformats-officedocument.presentationml.slide+xml"/>
  <Override PartName="/ppt/slides/slide42.xml" ContentType="application/vnd.openxmlformats-officedocument.presentationml.slide+xml"/>
  <Override PartName="/ppt/slides/slide133.xml" ContentType="application/vnd.openxmlformats-officedocument.presentationml.slide+xml"/>
  <Override PartName="/ppt/slides/slide43.xml" ContentType="application/vnd.openxmlformats-officedocument.presentationml.slide+xml"/>
  <Override PartName="/ppt/slides/slide105.xml" ContentType="application/vnd.openxmlformats-officedocument.presentationml.slide+xml"/>
  <Override PartName="/ppt/slides/slide94.xml" ContentType="application/vnd.openxmlformats-officedocument.presentationml.slide+xml"/>
  <Override PartName="/ppt/slides/slide101.xml" ContentType="application/vnd.openxmlformats-officedocument.presentationml.slide+xml"/>
  <Override PartName="/ppt/slides/slide170.xml" ContentType="application/vnd.openxmlformats-officedocument.presentationml.slide+xml"/>
  <Override PartName="/ppt/slides/slide130.xml" ContentType="application/vnd.openxmlformats-officedocument.presentationml.slide+xml"/>
  <Override PartName="/ppt/slides/slide46.xml" ContentType="application/vnd.openxmlformats-officedocument.presentationml.slide+xml"/>
  <Override PartName="/ppt/slides/slide131.xml" ContentType="application/vnd.openxmlformats-officedocument.presentationml.slide+xml"/>
  <Override PartName="/ppt/slides/slide53.xml" ContentType="application/vnd.openxmlformats-officedocument.presentationml.slide+xml"/>
  <Override PartName="/ppt/slides/slide160.xml" ContentType="application/vnd.openxmlformats-officedocument.presentationml.slide+xml"/>
  <Override PartName="/ppt/slides/slide9.xml" ContentType="application/vnd.openxmlformats-officedocument.presentationml.slide+xml"/>
  <Override PartName="/ppt/slides/slide56.xml" ContentType="application/vnd.openxmlformats-officedocument.presentationml.slide+xml"/>
  <Override PartName="/ppt/slides/slide136.xml" ContentType="application/vnd.openxmlformats-officedocument.presentationml.slide+xml"/>
  <Override PartName="/ppt/slides/slide24.xml" ContentType="application/vnd.openxmlformats-officedocument.presentationml.slide+xml"/>
  <Override PartName="/ppt/slides/slide128.xml" ContentType="application/vnd.openxmlformats-officedocument.presentationml.slide+xml"/>
  <Override PartName="/ppt/slides/slide74.xml" ContentType="application/vnd.openxmlformats-officedocument.presentationml.slide+xml"/>
  <Override PartName="/ppt/slides/slide165.xml" ContentType="application/vnd.openxmlformats-officedocument.presentationml.slide+xml"/>
  <Override PartName="/ppt/slides/slide158.xml" ContentType="application/vnd.openxmlformats-officedocument.presentationml.slide+xml"/>
  <Override PartName="/ppt/slides/slide36.xml" ContentType="application/vnd.openxmlformats-officedocument.presentationml.slide+xml"/>
  <Override PartName="/ppt/slides/slide142.xml" ContentType="application/vnd.openxmlformats-officedocument.presentationml.slide+xml"/>
  <Override PartName="/ppt/slides/slide78.xml" ContentType="application/vnd.openxmlformats-officedocument.presentationml.slide+xml"/>
  <Override PartName="/ppt/slides/slide31.xml" ContentType="application/vnd.openxmlformats-officedocument.presentationml.slide+xml"/>
  <Override PartName="/ppt/slides/slide140.xml" ContentType="application/vnd.openxmlformats-officedocument.presentationml.slide+xml"/>
  <Override PartName="/ppt/slides/slide184.xml" ContentType="application/vnd.openxmlformats-officedocument.presentationml.slide+xml"/>
  <Override PartName="/ppt/slides/slide13.xml" ContentType="application/vnd.openxmlformats-officedocument.presentationml.slide+xml"/>
  <Override PartName="/ppt/slides/slide117.xml" ContentType="application/vnd.openxmlformats-officedocument.presentationml.slide+xml"/>
  <Override PartName="/ppt/slides/slide79.xml" ContentType="application/vnd.openxmlformats-officedocument.presentationml.slide+xml"/>
  <Override PartName="/ppt/slides/slide152.xml" ContentType="application/vnd.openxmlformats-officedocument.presentationml.slide+xml"/>
  <Override PartName="/ppt/slides/slide161.xml" ContentType="application/vnd.openxmlformats-officedocument.presentationml.slide+xml"/>
  <Override PartName="/ppt/slides/slide95.xml" ContentType="application/vnd.openxmlformats-officedocument.presentationml.slide+xml"/>
  <Override PartName="/ppt/slides/slide169.xml" ContentType="application/vnd.openxmlformats-officedocument.presentationml.slide+xml"/>
  <Override PartName="/ppt/slides/slide59.xml" ContentType="application/vnd.openxmlformats-officedocument.presentationml.slide+xml"/>
  <Override PartName="/ppt/slides/slide183.xml" ContentType="application/vnd.openxmlformats-officedocument.presentationml.slide+xml"/>
  <Override PartName="/ppt/slides/slide44.xml" ContentType="application/vnd.openxmlformats-officedocument.presentationml.slide+xml"/>
  <Override PartName="/ppt/slides/slide163.xml" ContentType="application/vnd.openxmlformats-officedocument.presentationml.slide+xml"/>
  <Override PartName="/ppt/slides/slide92.xml" ContentType="application/vnd.openxmlformats-officedocument.presentationml.slide+xml"/>
  <Override PartName="/ppt/slides/slide168.xml" ContentType="application/vnd.openxmlformats-officedocument.presentationml.slide+xml"/>
  <Override PartName="/ppt/slides/slide110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75.xml" ContentType="application/vnd.openxmlformats-officedocument.presentationml.slide+xml"/>
  <Override PartName="/ppt/slides/slide182.xml" ContentType="application/vnd.openxmlformats-officedocument.presentationml.slide+xml"/>
  <Override PartName="/ppt/slides/slide6.xml" ContentType="application/vnd.openxmlformats-officedocument.presentationml.slide+xml"/>
  <Override PartName="/ppt/slides/slide162.xml" ContentType="application/vnd.openxmlformats-officedocument.presentationml.slide+xml"/>
  <Override PartName="/ppt/slides/slide54.xml" ContentType="application/vnd.openxmlformats-officedocument.presentationml.slide+xml"/>
  <Override PartName="/ppt/slides/slide116.xml" ContentType="application/vnd.openxmlformats-officedocument.presentationml.slide+xml"/>
  <Override PartName="/ppt/slides/slide150.xml" ContentType="application/vnd.openxmlformats-officedocument.presentationml.slide+xml"/>
  <Override PartName="/ppt/slides/slide86.xml" ContentType="application/vnd.openxmlformats-officedocument.presentationml.slide+xml"/>
  <Override PartName="/ppt/slides/slide180.xml" ContentType="application/vnd.openxmlformats-officedocument.presentationml.slide+xml"/>
  <Override PartName="/ppt/slides/slide100.xml" ContentType="application/vnd.openxmlformats-officedocument.presentationml.slide+xml"/>
  <Override PartName="/ppt/slides/slide119.xml" ContentType="application/vnd.openxmlformats-officedocument.presentationml.slide+xml"/>
  <Override PartName="/ppt/slides/slide137.xml" ContentType="application/vnd.openxmlformats-officedocument.presentationml.slide+xml"/>
  <Override PartName="/ppt/slides/slide166.xml" ContentType="application/vnd.openxmlformats-officedocument.presentationml.slide+xml"/>
  <Override PartName="/ppt/slides/slide102.xml" ContentType="application/vnd.openxmlformats-officedocument.presentationml.slide+xml"/>
  <Override PartName="/ppt/slides/slide108.xml" ContentType="application/vnd.openxmlformats-officedocument.presentationml.slide+xml"/>
  <Override PartName="/ppt/slides/slide145.xml" ContentType="application/vnd.openxmlformats-officedocument.presentationml.slide+xml"/>
  <Override PartName="/ppt/slides/slide164.xml" ContentType="application/vnd.openxmlformats-officedocument.presentationml.slide+xml"/>
  <Override PartName="/ppt/slides/slide148.xml" ContentType="application/vnd.openxmlformats-officedocument.presentationml.slide+xml"/>
  <Override PartName="/ppt/slides/slide159.xml" ContentType="application/vnd.openxmlformats-officedocument.presentationml.slide+xml"/>
  <Override PartName="/ppt/slides/slide146.xml" ContentType="application/vnd.openxmlformats-officedocument.presentationml.slide+xml"/>
  <Override PartName="/ppt/slides/slide51.xml" ContentType="application/vnd.openxmlformats-officedocument.presentationml.slide+xml"/>
  <Override PartName="/ppt/slides/slide179.xml" ContentType="application/vnd.openxmlformats-officedocument.presentationml.slide+xml"/>
  <Override PartName="/ppt/slides/slide157.xml" ContentType="application/vnd.openxmlformats-officedocument.presentationml.slide+xml"/>
  <Override PartName="/ppt/slides/slide34.xml" ContentType="application/vnd.openxmlformats-officedocument.presentationml.slide+xml"/>
  <Override PartName="/ppt/slides/slide132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54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153.xml" ContentType="application/vnd.openxmlformats-officedocument.presentationml.slide+xml"/>
  <Override PartName="/ppt/slides/slide14.xml" ContentType="application/vnd.openxmlformats-officedocument.presentationml.slide+xml"/>
  <Override PartName="/ppt/slides/slide134.xml" ContentType="application/vnd.openxmlformats-officedocument.presentationml.slide+xml"/>
  <Override PartName="/ppt/slides/slide151.xml" ContentType="application/vnd.openxmlformats-officedocument.presentationml.slide+xml"/>
  <Override PartName="/ppt/slides/slide37.xml" ContentType="application/vnd.openxmlformats-officedocument.presentationml.slide+xml"/>
  <Override PartName="/ppt/slides/slide149.xml" ContentType="application/vnd.openxmlformats-officedocument.presentationml.slide+xml"/>
  <Override PartName="/ppt/slides/slide83.xml" ContentType="application/vnd.openxmlformats-officedocument.presentationml.slide+xml"/>
  <Override PartName="/ppt/slides/slide139.xml" ContentType="application/vnd.openxmlformats-officedocument.presentationml.slide+xml"/>
  <Override PartName="/ppt/slides/slide147.xml" ContentType="application/vnd.openxmlformats-officedocument.presentationml.slide+xml"/>
  <Override PartName="/ppt/slides/slide55.xml" ContentType="application/vnd.openxmlformats-officedocument.presentationml.slide+xml"/>
  <Override PartName="/ppt/slides/slide143.xml" ContentType="application/vnd.openxmlformats-officedocument.presentationml.slide+xml"/>
  <Override PartName="/ppt/slides/slide41.xml" ContentType="application/vnd.openxmlformats-officedocument.presentationml.slide+xml"/>
  <Override PartName="/ppt/slides/slide98.xml" ContentType="application/vnd.openxmlformats-officedocument.presentationml.slide+xml"/>
  <Override PartName="/ppt/slides/slide23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33.xml" ContentType="application/vnd.openxmlformats-officedocument.presentationml.slide+xml"/>
  <Override PartName="/ppt/slides/slide20.xml" ContentType="application/vnd.openxmlformats-officedocument.presentationml.slide+xml"/>
  <Override PartName="/ppt/slides/slide173.xml" ContentType="application/vnd.openxmlformats-officedocument.presentationml.slide+xml"/>
  <Override PartName="/ppt/slides/slide90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50.xml" ContentType="application/vnd.openxmlformats-officedocument.presentationml.slide+xml"/>
  <Override PartName="/ppt/slides/slide15.xml" ContentType="application/vnd.openxmlformats-officedocument.presentationml.slide+xml"/>
  <Override PartName="/ppt/slides/slide126.xml" ContentType="application/vnd.openxmlformats-officedocument.presentationml.slide+xml"/>
  <Override PartName="/ppt/slides/slide10.xml" ContentType="application/vnd.openxmlformats-officedocument.presentationml.slide+xml"/>
  <Override PartName="/ppt/slides/slide172.xml" ContentType="application/vnd.openxmlformats-officedocument.presentationml.slide+xml"/>
  <Override PartName="/ppt/slides/slide144.xml" ContentType="application/vnd.openxmlformats-officedocument.presentationml.slide+xml"/>
  <Override PartName="/ppt/slides/slide25.xml" ContentType="application/vnd.openxmlformats-officedocument.presentationml.slide+xml"/>
  <Override PartName="/ppt/slides/slide114.xml" ContentType="application/vnd.openxmlformats-officedocument.presentationml.slide+xml"/>
  <Override PartName="/ppt/slides/slide21.xml" ContentType="application/vnd.openxmlformats-officedocument.presentationml.slide+xml"/>
  <Override PartName="/ppt/slides/slide66.xml" ContentType="application/vnd.openxmlformats-officedocument.presentationml.slide+xml"/>
  <Override PartName="/ppt/slides/slide138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99.xml" ContentType="application/vnd.openxmlformats-officedocument.presentationml.slide+xml"/>
  <Override PartName="/ppt/slides/slide57.xml" ContentType="application/vnd.openxmlformats-officedocument.presentationml.slide+xml"/>
  <Override PartName="/ppt/slides/slide171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47.xml" ContentType="application/vnd.openxmlformats-officedocument.presentationml.slide+xml"/>
  <Override PartName="/ppt/slides/slide178.xml" ContentType="application/vnd.openxmlformats-officedocument.presentationml.slide+xml"/>
  <Override PartName="/ppt/slides/slide16.xml" ContentType="application/vnd.openxmlformats-officedocument.presentationml.slide+xml"/>
  <Override PartName="/ppt/slides/slide135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81.xml" ContentType="application/vnd.openxmlformats-officedocument.presentationml.slide+xml"/>
  <Override PartName="/ppt/slides/slide91.xml" ContentType="application/vnd.openxmlformats-officedocument.presentationml.slide+xml"/>
  <Override PartName="/ppt/slides/slide1.xml" ContentType="application/vnd.openxmlformats-officedocument.presentationml.slide+xml"/>
  <Override PartName="/ppt/slides/slide167.xml" ContentType="application/vnd.openxmlformats-officedocument.presentationml.slide+xml"/>
  <Override PartName="/ppt/slides/slide32.xml" ContentType="application/vnd.openxmlformats-officedocument.presentationml.slide+xml"/>
  <Override PartName="/ppt/slides/slide93.xml" ContentType="application/vnd.openxmlformats-officedocument.presentationml.slide+xml"/>
  <Override PartName="/ppt/slides/slide7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82.xml" ContentType="application/vnd.openxmlformats-officedocument.presentationml.slide+xml"/>
  <Override PartName="/ppt/slides/slide2.xml" ContentType="application/vnd.openxmlformats-officedocument.presentationml.slide+xml"/>
  <Override PartName="/ppt/slides/slide96.xml" ContentType="application/vnd.openxmlformats-officedocument.presentationml.slide+xml"/>
  <Override PartName="/ppt/slides/slide71.xml" ContentType="application/vnd.openxmlformats-officedocument.presentationml.slide+xml"/>
  <Override PartName="/ppt/slides/slide61.xml" ContentType="application/vnd.openxmlformats-officedocument.presentationml.slide+xml"/>
  <Override PartName="/ppt/slides/slide28.xml" ContentType="application/vnd.openxmlformats-officedocument.presentationml.slide+xml"/>
  <Override PartName="/ppt/slides/slide129.xml" ContentType="application/vnd.openxmlformats-officedocument.presentationml.slide+xml"/>
  <Override PartName="/ppt/slides/slide141.xml" ContentType="application/vnd.openxmlformats-officedocument.presentationml.slide+xml"/>
  <Override PartName="/ppt/slides/slide97.xml" ContentType="application/vnd.openxmlformats-officedocument.presentationml.slide+xml"/>
  <Override PartName="/ppt/slides/slide88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0.xml" ContentType="application/vnd.openxmlformats-officedocument.presentationml.slide+xml"/>
  <Override PartName="/ppt/slides/slide104.xml" ContentType="application/vnd.openxmlformats-officedocument.presentationml.slide+xml"/>
  <Override PartName="/ppt/slides/slide62.xml" ContentType="application/vnd.openxmlformats-officedocument.presentationml.slide+xml"/>
  <Override PartName="/ppt/slides/slide127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media/image33.wmf" ContentType="image/x-wmf"/>
  <Override PartName="/ppt/media/image71.wmf" ContentType="image/x-wmf"/>
  <Override PartName="/ppt/media/image11.wmf" ContentType="image/x-wmf"/>
  <Override PartName="/ppt/media/image57.wmf" ContentType="image/x-wmf"/>
  <Override PartName="/ppt/media/image70.wmf" ContentType="image/x-wmf"/>
  <Override PartName="/ppt/media/image75.wmf" ContentType="image/x-wmf"/>
  <Override PartName="/ppt/media/image32.wmf" ContentType="image/x-wmf"/>
  <Override PartName="/ppt/media/image76.wmf" ContentType="image/x-wmf"/>
  <Override PartName="/ppt/media/image77.wmf" ContentType="image/x-wmf"/>
  <Override PartName="/ppt/media/image73.wmf" ContentType="image/x-wmf"/>
  <Override PartName="/ppt/media/image74.wmf" ContentType="image/x-wmf"/>
  <Override PartName="/ppt/media/image81.wmf" ContentType="image/x-wmf"/>
  <Override PartName="/ppt/media/image66.wmf" ContentType="image/x-wmf"/>
  <Override PartName="/ppt/media/image82.wmf" ContentType="image/x-wmf"/>
  <Override PartName="/ppt/media/image68.wmf" ContentType="image/x-wmf"/>
  <Override PartName="/ppt/media/image83.wmf" ContentType="image/x-wmf"/>
  <Override PartName="/ppt/media/image80.wmf" ContentType="image/x-wmf"/>
  <Override PartName="/ppt/media/image31.wmf" ContentType="image/x-wmf"/>
  <Override PartName="/ppt/media/image59.wmf" ContentType="image/x-wmf"/>
  <Override PartName="/ppt/media/image61.wmf" ContentType="image/x-wmf"/>
  <Override PartName="/ppt/media/image84.wmf" ContentType="image/x-wmf"/>
  <Override PartName="/ppt/media/image67.wmf" ContentType="image/x-wmf"/>
  <Override PartName="/ppt/media/image86.wmf" ContentType="image/x-wmf"/>
  <Override PartName="/ppt/media/image72.wmf" ContentType="image/x-wmf"/>
  <Override PartName="/ppt/media/image87.wmf" ContentType="image/x-wmf"/>
  <Override PartName="/ppt/media/image85.wmf" ContentType="image/x-wmf"/>
  <Override PartName="/ppt/media/image65.wmf" ContentType="image/x-wmf"/>
  <Override PartName="/ppt/media/image63.wmf" ContentType="image/x-wmf"/>
  <Override PartName="/ppt/media/image10.wmf" ContentType="image/x-wmf"/>
  <Override PartName="/ppt/media/image79.wmf" ContentType="image/x-wmf"/>
  <Override PartName="/ppt/presentation.xml" ContentType="application/vnd.openxmlformats-officedocument.presentationml.presentation.main+xml"/>
  <Override PartName="/ppt/embeddings/oleObject1.bin" ContentType="application/vnd.openxmlformats-officedocument.oleObject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515280" y="0"/>
            <a:ext cx="1942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85800" y="0"/>
            <a:ext cx="567648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85800" y="1447920"/>
            <a:ext cx="38095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48320" y="1447920"/>
            <a:ext cx="38095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1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1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6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6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1.wmf"/><Relationship Id="rId3" Type="http://schemas.openxmlformats.org/officeDocument/2006/relationships/slideLayout" Target="../slideLayouts/slideLayout4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32.wmf"/><Relationship Id="rId2" Type="http://schemas.openxmlformats.org/officeDocument/2006/relationships/image" Target="../media/image32.wmf"/><Relationship Id="rId3" Type="http://schemas.openxmlformats.org/officeDocument/2006/relationships/image" Target="../media/image33.wmf"/><Relationship Id="rId4" Type="http://schemas.openxmlformats.org/officeDocument/2006/relationships/slideLayout" Target="../slideLayouts/slideLayout4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slideLayout" Target="../slideLayouts/slideLayout4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0.png"/><Relationship Id="rId13" Type="http://schemas.openxmlformats.org/officeDocument/2006/relationships/image" Target="../media/image47.png"/><Relationship Id="rId14" Type="http://schemas.openxmlformats.org/officeDocument/2006/relationships/slideLayout" Target="../slideLayouts/slideLayout4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4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4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4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image" Target="../media/image57.wmf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4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image" Target="../media/image59.wmf"/><Relationship Id="rId2" Type="http://schemas.openxmlformats.org/officeDocument/2006/relationships/slideLayout" Target="../slideLayouts/slideLayout4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4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1.wmf"/><Relationship Id="rId3" Type="http://schemas.openxmlformats.org/officeDocument/2006/relationships/slideLayout" Target="../slideLayouts/slideLayout4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image" Target="../media/image61.wmf"/><Relationship Id="rId2" Type="http://schemas.openxmlformats.org/officeDocument/2006/relationships/slideLayout" Target="../slideLayouts/slideLayout4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4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image" Target="../media/image63.wmf"/><Relationship Id="rId2" Type="http://schemas.openxmlformats.org/officeDocument/2006/relationships/slideLayout" Target="../slideLayouts/slideLayout4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4.png"/><Relationship Id="rId3" Type="http://schemas.openxmlformats.org/officeDocument/2006/relationships/image" Target="../media/image64.png"/><Relationship Id="rId4" Type="http://schemas.openxmlformats.org/officeDocument/2006/relationships/slideLayout" Target="../slideLayouts/slideLayout4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image" Target="../media/image65.wmf"/><Relationship Id="rId2" Type="http://schemas.openxmlformats.org/officeDocument/2006/relationships/slideLayout" Target="../slideLayouts/slideLayout4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image" Target="../media/image66.wmf"/><Relationship Id="rId2" Type="http://schemas.openxmlformats.org/officeDocument/2006/relationships/slideLayout" Target="../slideLayouts/slideLayout4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image" Target="../media/image67.wmf"/><Relationship Id="rId2" Type="http://schemas.openxmlformats.org/officeDocument/2006/relationships/image" Target="../media/image67.wmf"/><Relationship Id="rId3" Type="http://schemas.openxmlformats.org/officeDocument/2006/relationships/image" Target="../media/image67.wmf"/><Relationship Id="rId4" Type="http://schemas.openxmlformats.org/officeDocument/2006/relationships/image" Target="../media/image67.wmf"/><Relationship Id="rId5" Type="http://schemas.openxmlformats.org/officeDocument/2006/relationships/image" Target="../media/image67.wmf"/><Relationship Id="rId6" Type="http://schemas.openxmlformats.org/officeDocument/2006/relationships/image" Target="../media/image67.wmf"/><Relationship Id="rId7" Type="http://schemas.openxmlformats.org/officeDocument/2006/relationships/slideLayout" Target="../slideLayouts/slideLayout4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image" Target="../media/image68.wmf"/><Relationship Id="rId2" Type="http://schemas.openxmlformats.org/officeDocument/2006/relationships/image" Target="../media/image68.wmf"/><Relationship Id="rId3" Type="http://schemas.openxmlformats.org/officeDocument/2006/relationships/image" Target="../media/image68.wmf"/><Relationship Id="rId4" Type="http://schemas.openxmlformats.org/officeDocument/2006/relationships/image" Target="../media/image68.wmf"/><Relationship Id="rId5" Type="http://schemas.openxmlformats.org/officeDocument/2006/relationships/image" Target="../media/image68.wmf"/><Relationship Id="rId6" Type="http://schemas.openxmlformats.org/officeDocument/2006/relationships/image" Target="../media/image68.wmf"/><Relationship Id="rId7" Type="http://schemas.openxmlformats.org/officeDocument/2006/relationships/image" Target="../media/image69.png"/><Relationship Id="rId8" Type="http://schemas.openxmlformats.org/officeDocument/2006/relationships/slideLayout" Target="../slideLayouts/slideLayout4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image" Target="../media/image70.wmf"/><Relationship Id="rId2" Type="http://schemas.openxmlformats.org/officeDocument/2006/relationships/image" Target="../media/image70.wmf"/><Relationship Id="rId3" Type="http://schemas.openxmlformats.org/officeDocument/2006/relationships/slideLayout" Target="../slideLayouts/slideLayout4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image" Target="../media/image71.wmf"/><Relationship Id="rId2" Type="http://schemas.openxmlformats.org/officeDocument/2006/relationships/slideLayout" Target="../slideLayouts/slideLayout4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image" Target="../media/image72.wmf"/><Relationship Id="rId2" Type="http://schemas.openxmlformats.org/officeDocument/2006/relationships/slideLayout" Target="../slideLayouts/slideLayout4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image" Target="../media/image73.wmf"/><Relationship Id="rId2" Type="http://schemas.openxmlformats.org/officeDocument/2006/relationships/slideLayout" Target="../slideLayouts/slideLayout4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image" Target="../media/image74.wmf"/><Relationship Id="rId2" Type="http://schemas.openxmlformats.org/officeDocument/2006/relationships/image" Target="../media/image74.wmf"/><Relationship Id="rId3" Type="http://schemas.openxmlformats.org/officeDocument/2006/relationships/image" Target="../media/image75.wmf"/><Relationship Id="rId4" Type="http://schemas.openxmlformats.org/officeDocument/2006/relationships/image" Target="../media/image76.wmf"/><Relationship Id="rId5" Type="http://schemas.openxmlformats.org/officeDocument/2006/relationships/image" Target="../media/image77.wmf"/><Relationship Id="rId6" Type="http://schemas.openxmlformats.org/officeDocument/2006/relationships/image" Target="../media/image75.wmf"/><Relationship Id="rId7" Type="http://schemas.openxmlformats.org/officeDocument/2006/relationships/image" Target="../media/image76.wmf"/><Relationship Id="rId8" Type="http://schemas.openxmlformats.org/officeDocument/2006/relationships/image" Target="../media/image77.wmf"/><Relationship Id="rId9" Type="http://schemas.openxmlformats.org/officeDocument/2006/relationships/image" Target="../media/image74.wmf"/><Relationship Id="rId10" Type="http://schemas.openxmlformats.org/officeDocument/2006/relationships/image" Target="../media/image75.wmf"/><Relationship Id="rId11" Type="http://schemas.openxmlformats.org/officeDocument/2006/relationships/image" Target="../media/image76.wmf"/><Relationship Id="rId12" Type="http://schemas.openxmlformats.org/officeDocument/2006/relationships/image" Target="../media/image77.wmf"/><Relationship Id="rId13" Type="http://schemas.openxmlformats.org/officeDocument/2006/relationships/slideLayout" Target="../slideLayouts/slideLayout4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4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4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image" Target="../media/image79.wmf"/><Relationship Id="rId2" Type="http://schemas.openxmlformats.org/officeDocument/2006/relationships/slideLayout" Target="../slideLayouts/slideLayout4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image" Target="../media/image80.wmf"/><Relationship Id="rId2" Type="http://schemas.openxmlformats.org/officeDocument/2006/relationships/slideLayout" Target="../slideLayouts/slideLayout4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image" Target="../media/image81.wmf"/><Relationship Id="rId2" Type="http://schemas.openxmlformats.org/officeDocument/2006/relationships/slideLayout" Target="../slideLayouts/slideLayout4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image" Target="../media/image82.wmf"/><Relationship Id="rId2" Type="http://schemas.openxmlformats.org/officeDocument/2006/relationships/slideLayout" Target="../slideLayouts/slideLayout4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image" Target="../media/image83.wmf"/><Relationship Id="rId2" Type="http://schemas.openxmlformats.org/officeDocument/2006/relationships/slideLayout" Target="../slideLayouts/slideLayout4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image" Target="../media/image84.wmf"/><Relationship Id="rId2" Type="http://schemas.openxmlformats.org/officeDocument/2006/relationships/slideLayout" Target="../slideLayouts/slideLayout4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image" Target="../media/image85.wmf"/><Relationship Id="rId2" Type="http://schemas.openxmlformats.org/officeDocument/2006/relationships/slideLayout" Target="../slideLayouts/slideLayout4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image" Target="../media/image86.wmf"/><Relationship Id="rId2" Type="http://schemas.openxmlformats.org/officeDocument/2006/relationships/slideLayout" Target="../slideLayouts/slideLayout4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image" Target="../media/image87.wmf"/><Relationship Id="rId2" Type="http://schemas.openxmlformats.org/officeDocument/2006/relationships/slideLayout" Target="../slideLayouts/slideLayout4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slideLayout" Target="../slideLayouts/slideLayout4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image" Target="../media/image94.png"/><Relationship Id="rId3" Type="http://schemas.openxmlformats.org/officeDocument/2006/relationships/slideLayout" Target="../slideLayouts/slideLayout4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slideLayout" Target="../slideLayouts/slideLayout4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slideLayout" Target="../slideLayouts/slideLayout4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image" Target="../media/image101.png"/><Relationship Id="rId3" Type="http://schemas.openxmlformats.org/officeDocument/2006/relationships/slideLayout" Target="../slideLayouts/slideLayout4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slideLayout" Target="../slideLayouts/slideLayout4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image" Target="../media/image103.png"/><Relationship Id="rId2" Type="http://schemas.openxmlformats.org/officeDocument/2006/relationships/slideLayout" Target="../slideLayouts/slideLayout4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image" Target="../media/image104.png"/><Relationship Id="rId2" Type="http://schemas.openxmlformats.org/officeDocument/2006/relationships/slideLayout" Target="../slideLayouts/slideLayout4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image" Target="../media/image105.png"/><Relationship Id="rId2" Type="http://schemas.openxmlformats.org/officeDocument/2006/relationships/slideLayout" Target="../slideLayouts/slideLayout4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image" Target="../media/image106.png"/><Relationship Id="rId2" Type="http://schemas.openxmlformats.org/officeDocument/2006/relationships/slideLayout" Target="../slideLayouts/slideLayout4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9"/>
          <p:cNvSpPr/>
          <p:nvPr/>
        </p:nvSpPr>
        <p:spPr>
          <a:xfrm>
            <a:off x="687240" y="1455840"/>
            <a:ext cx="7772040" cy="2117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starvation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gelijktijdigheid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57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onafhankelijke gelijktijdige processen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10"/>
          <p:cNvPicPr/>
          <p:nvPr/>
        </p:nvPicPr>
        <p:blipFill>
          <a:blip r:embed="rId1"/>
          <a:stretch/>
        </p:blipFill>
        <p:spPr>
          <a:xfrm>
            <a:off x="90360" y="3645000"/>
            <a:ext cx="8961120" cy="220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Picture 11"/>
          <p:cNvPicPr/>
          <p:nvPr/>
        </p:nvPicPr>
        <p:blipFill>
          <a:blip r:embed="rId2"/>
          <a:stretch/>
        </p:blipFill>
        <p:spPr>
          <a:xfrm>
            <a:off x="90360" y="3645000"/>
            <a:ext cx="8961120" cy="220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Picture 13"/>
          <p:cNvPicPr/>
          <p:nvPr/>
        </p:nvPicPr>
        <p:blipFill>
          <a:blip r:embed="rId3"/>
          <a:stretch/>
        </p:blipFill>
        <p:spPr>
          <a:xfrm>
            <a:off x="90360" y="3645000"/>
            <a:ext cx="8961120" cy="220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14"/>
          <p:cNvPicPr/>
          <p:nvPr/>
        </p:nvPicPr>
        <p:blipFill>
          <a:blip r:embed="rId4"/>
          <a:stretch/>
        </p:blipFill>
        <p:spPr>
          <a:xfrm>
            <a:off x="90360" y="3645000"/>
            <a:ext cx="8961120" cy="220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Picture 15"/>
          <p:cNvPicPr/>
          <p:nvPr/>
        </p:nvPicPr>
        <p:blipFill>
          <a:blip r:embed="rId5"/>
          <a:stretch/>
        </p:blipFill>
        <p:spPr>
          <a:xfrm>
            <a:off x="90360" y="3645000"/>
            <a:ext cx="8961120" cy="220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16"/>
          <p:cNvPicPr/>
          <p:nvPr/>
        </p:nvPicPr>
        <p:blipFill>
          <a:blip r:embed="rId6"/>
          <a:stretch/>
        </p:blipFill>
        <p:spPr>
          <a:xfrm>
            <a:off x="93600" y="3645000"/>
            <a:ext cx="8956440" cy="220788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gelijktijdigheid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107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onafhankelijke gelijktijdige processen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processen delen bewust hetzelfde object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37" name="Picture 4"/>
          <p:cNvPicPr/>
          <p:nvPr/>
        </p:nvPicPr>
        <p:blipFill>
          <a:blip r:embed="rId1"/>
          <a:stretch/>
        </p:blipFill>
        <p:spPr>
          <a:xfrm>
            <a:off x="1776240" y="2552760"/>
            <a:ext cx="5384520" cy="4161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Picture 5"/>
          <p:cNvPicPr/>
          <p:nvPr/>
        </p:nvPicPr>
        <p:blipFill>
          <a:blip r:embed="rId2"/>
          <a:stretch/>
        </p:blipFill>
        <p:spPr>
          <a:xfrm>
            <a:off x="1776240" y="2554200"/>
            <a:ext cx="5384520" cy="4161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Picture 7"/>
          <p:cNvPicPr/>
          <p:nvPr/>
        </p:nvPicPr>
        <p:blipFill>
          <a:blip r:embed="rId3"/>
          <a:stretch/>
        </p:blipFill>
        <p:spPr>
          <a:xfrm>
            <a:off x="1776240" y="2554200"/>
            <a:ext cx="5384520" cy="416196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gelijktijdigheid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73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onafhankelijke gelijktijdige processen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starvation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processen delen bewust hetzelfde object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data coherence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synchronisatie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samenwerkende processen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communicatie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2" name="Group 8"/>
          <p:cNvGrpSpPr/>
          <p:nvPr/>
        </p:nvGrpSpPr>
        <p:grpSpPr>
          <a:xfrm>
            <a:off x="3576600" y="2557440"/>
            <a:ext cx="5332320" cy="3543120"/>
            <a:chOff x="3576600" y="2557440"/>
            <a:chExt cx="5332320" cy="3543120"/>
          </a:xfrm>
        </p:grpSpPr>
        <p:sp>
          <p:nvSpPr>
            <p:cNvPr id="43" name="Text Box 4"/>
            <p:cNvSpPr/>
            <p:nvPr/>
          </p:nvSpPr>
          <p:spPr>
            <a:xfrm>
              <a:off x="6151680" y="4640400"/>
              <a:ext cx="2757240" cy="9457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nl-NL" sz="2800" b="0" u="none" strike="noStrike">
                  <a:solidFill>
                    <a:srgbClr val="00cc00"/>
                  </a:solidFill>
                  <a:effectLst/>
                  <a:uFillTx/>
                  <a:latin typeface="Times New Roman"/>
                </a:rPr>
                <a:t>operating systeem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nl-NL" sz="2800" b="0" u="none" strike="noStrike">
                  <a:solidFill>
                    <a:srgbClr val="00cc00"/>
                  </a:solidFill>
                  <a:effectLst/>
                  <a:uFillTx/>
                  <a:latin typeface="Times New Roman"/>
                </a:rPr>
                <a:t>primitieven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Line 5"/>
            <p:cNvSpPr/>
            <p:nvPr/>
          </p:nvSpPr>
          <p:spPr>
            <a:xfrm>
              <a:off x="4721040" y="2557440"/>
              <a:ext cx="1531800" cy="2225520"/>
            </a:xfrm>
            <a:prstGeom prst="line">
              <a:avLst/>
            </a:prstGeom>
            <a:ln w="47625">
              <a:solidFill>
                <a:srgbClr val="00ff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Line 6"/>
            <p:cNvSpPr/>
            <p:nvPr/>
          </p:nvSpPr>
          <p:spPr>
            <a:xfrm>
              <a:off x="3630600" y="4976640"/>
              <a:ext cx="2546280" cy="174600"/>
            </a:xfrm>
            <a:prstGeom prst="line">
              <a:avLst/>
            </a:prstGeom>
            <a:ln w="47625">
              <a:solidFill>
                <a:srgbClr val="00ff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Line 7"/>
            <p:cNvSpPr/>
            <p:nvPr/>
          </p:nvSpPr>
          <p:spPr>
            <a:xfrm flipV="1">
              <a:off x="3576600" y="5457600"/>
              <a:ext cx="3001680" cy="642960"/>
            </a:xfrm>
            <a:prstGeom prst="line">
              <a:avLst/>
            </a:prstGeom>
            <a:ln w="47625">
              <a:solidFill>
                <a:srgbClr val="00ff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85800" y="1011240"/>
            <a:ext cx="7772040" cy="5089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eisen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onderbrekingen buiten de kritieke sectie verstoren de andere processen niet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moet dwingend worden opgelegd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volgorde voor toegang mag niet van tevoren worden vastgesteld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toegang tot kritieke sectie zo vlug mogelijk toekennen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beperkt verblijf in kritieke sectie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geen 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deadlocks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of 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uithongering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mogelijk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geen 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raceproblemen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resultaat hangt af van wie wat wanneer heeft uitgevoerd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moet onafhankelijk zijn van het aantal processoren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85800" y="1012680"/>
            <a:ext cx="8457840" cy="2316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alternatieve oplossingen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softwarebenaderingen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voor 2 processen: algoritmen van Dekker,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 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processen: algoritmen van Peterson,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                               Eisenberg &amp; McGuire, Lamport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Rectangle 1028"/>
          <p:cNvSpPr/>
          <p:nvPr/>
        </p:nvSpPr>
        <p:spPr>
          <a:xfrm>
            <a:off x="685800" y="3417840"/>
            <a:ext cx="8457840" cy="3222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hardwarebenaderingen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uitschakelen van interrupts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atomaire instructies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primitieven in het operating systeem of de compiler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signalen, sequencers en eventtellers, </a:t>
            </a:r>
            <a:r>
              <a:rPr lang="nl-NL" sz="24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semaforen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monitors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softwarebenadering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908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908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beurt != 0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beurt != 1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Picture 11"/>
          <p:cNvPicPr/>
          <p:nvPr/>
        </p:nvPicPr>
        <p:blipFill>
          <a:blip r:embed="rId1"/>
          <a:stretch/>
        </p:blipFill>
        <p:spPr>
          <a:xfrm>
            <a:off x="671400" y="1496880"/>
            <a:ext cx="3447720" cy="3860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" name="Rectangle 19"/>
          <p:cNvSpPr/>
          <p:nvPr/>
        </p:nvSpPr>
        <p:spPr>
          <a:xfrm>
            <a:off x="1359000" y="1525680"/>
            <a:ext cx="883800" cy="378252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ectangle 20"/>
          <p:cNvSpPr/>
          <p:nvPr/>
        </p:nvSpPr>
        <p:spPr>
          <a:xfrm>
            <a:off x="2916360" y="1533600"/>
            <a:ext cx="1163160" cy="18140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 Box 25"/>
          <p:cNvSpPr/>
          <p:nvPr/>
        </p:nvSpPr>
        <p:spPr>
          <a:xfrm>
            <a:off x="2757600" y="3646440"/>
            <a:ext cx="1469520" cy="456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nl-NL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subroutine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29"/>
          <p:cNvGrpSpPr/>
          <p:nvPr/>
        </p:nvGrpSpPr>
        <p:grpSpPr>
          <a:xfrm>
            <a:off x="4983120" y="1994040"/>
            <a:ext cx="3660480" cy="3917520"/>
            <a:chOff x="4983120" y="1994040"/>
            <a:chExt cx="3660480" cy="3917520"/>
          </a:xfrm>
        </p:grpSpPr>
        <p:pic>
          <p:nvPicPr>
            <p:cNvPr id="64" name="Picture 12"/>
            <p:cNvPicPr/>
            <p:nvPr/>
          </p:nvPicPr>
          <p:blipFill>
            <a:blip r:embed="rId2"/>
            <a:stretch/>
          </p:blipFill>
          <p:spPr>
            <a:xfrm>
              <a:off x="4983120" y="1994040"/>
              <a:ext cx="3465000" cy="33634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" name="Rectangle 21"/>
            <p:cNvSpPr/>
            <p:nvPr/>
          </p:nvSpPr>
          <p:spPr>
            <a:xfrm>
              <a:off x="5838840" y="2031840"/>
              <a:ext cx="863280" cy="32652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Rectangle 22"/>
            <p:cNvSpPr/>
            <p:nvPr/>
          </p:nvSpPr>
          <p:spPr>
            <a:xfrm>
              <a:off x="7550280" y="2028960"/>
              <a:ext cx="861480" cy="32745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Text Box 28"/>
            <p:cNvSpPr/>
            <p:nvPr/>
          </p:nvSpPr>
          <p:spPr>
            <a:xfrm>
              <a:off x="7310520" y="5454720"/>
              <a:ext cx="133308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NL" sz="2400" b="0" u="none" strike="noStrike">
                  <a:solidFill>
                    <a:srgbClr val="ff0000"/>
                  </a:solidFill>
                  <a:effectLst/>
                  <a:uFillTx/>
                  <a:latin typeface="Times New Roman"/>
                </a:rPr>
                <a:t>coroutine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beurt != 0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beurt != 1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vlag[1] != 0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vlag[0] != 0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4" name="Group 10"/>
          <p:cNvGrpSpPr/>
          <p:nvPr/>
        </p:nvGrpSpPr>
        <p:grpSpPr>
          <a:xfrm>
            <a:off x="990360" y="2474640"/>
            <a:ext cx="7239240" cy="360"/>
            <a:chOff x="990360" y="2474640"/>
            <a:chExt cx="7239240" cy="360"/>
          </a:xfrm>
        </p:grpSpPr>
        <p:sp>
          <p:nvSpPr>
            <p:cNvPr id="75" name="Line 6"/>
            <p:cNvSpPr/>
            <p:nvPr/>
          </p:nvSpPr>
          <p:spPr>
            <a:xfrm>
              <a:off x="990360" y="247464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Line 8"/>
            <p:cNvSpPr/>
            <p:nvPr/>
          </p:nvSpPr>
          <p:spPr>
            <a:xfrm>
              <a:off x="4952880" y="247464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7" name="Group 11"/>
          <p:cNvGrpSpPr/>
          <p:nvPr/>
        </p:nvGrpSpPr>
        <p:grpSpPr>
          <a:xfrm>
            <a:off x="990360" y="4120920"/>
            <a:ext cx="7239240" cy="360"/>
            <a:chOff x="990360" y="4120920"/>
            <a:chExt cx="7239240" cy="360"/>
          </a:xfrm>
        </p:grpSpPr>
        <p:sp>
          <p:nvSpPr>
            <p:cNvPr id="78" name="Line 12"/>
            <p:cNvSpPr/>
            <p:nvPr/>
          </p:nvSpPr>
          <p:spPr>
            <a:xfrm>
              <a:off x="990360" y="412092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Line 13"/>
            <p:cNvSpPr/>
            <p:nvPr/>
          </p:nvSpPr>
          <p:spPr>
            <a:xfrm>
              <a:off x="4952880" y="412092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" dur="indefinite" restart="never" nodeType="tmRoot">
          <p:childTnLst>
            <p:seq>
              <p:cTn id="90" dur="indefinite" nodeType="mainSeq">
                <p:childTnLst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6" name="Group 5"/>
          <p:cNvGrpSpPr/>
          <p:nvPr/>
        </p:nvGrpSpPr>
        <p:grpSpPr>
          <a:xfrm>
            <a:off x="990360" y="2133360"/>
            <a:ext cx="7239240" cy="360"/>
            <a:chOff x="990360" y="2133360"/>
            <a:chExt cx="7239240" cy="360"/>
          </a:xfrm>
        </p:grpSpPr>
        <p:sp>
          <p:nvSpPr>
            <p:cNvPr id="87" name="Line 6"/>
            <p:cNvSpPr/>
            <p:nvPr/>
          </p:nvSpPr>
          <p:spPr>
            <a:xfrm>
              <a:off x="990360" y="213336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Line 7"/>
            <p:cNvSpPr/>
            <p:nvPr/>
          </p:nvSpPr>
          <p:spPr>
            <a:xfrm>
              <a:off x="4952880" y="213336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vlag[0]=1;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vlag[1]=1;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5" name="Group 5"/>
          <p:cNvGrpSpPr/>
          <p:nvPr/>
        </p:nvGrpSpPr>
        <p:grpSpPr>
          <a:xfrm>
            <a:off x="990360" y="2460600"/>
            <a:ext cx="7239240" cy="360"/>
            <a:chOff x="990360" y="2460600"/>
            <a:chExt cx="7239240" cy="360"/>
          </a:xfrm>
        </p:grpSpPr>
        <p:sp>
          <p:nvSpPr>
            <p:cNvPr id="96" name="Line 6"/>
            <p:cNvSpPr/>
            <p:nvPr/>
          </p:nvSpPr>
          <p:spPr>
            <a:xfrm>
              <a:off x="990360" y="246060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" name="Line 7"/>
            <p:cNvSpPr/>
            <p:nvPr/>
          </p:nvSpPr>
          <p:spPr>
            <a:xfrm>
              <a:off x="4952880" y="2460600"/>
              <a:ext cx="3276720" cy="360"/>
            </a:xfrm>
            <a:prstGeom prst="line">
              <a:avLst/>
            </a:prstGeom>
            <a:ln w="38100">
              <a:solidFill>
                <a:srgbClr val="00ff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poging 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vlag[0]=0;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vlag[0]=1;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vlag[1]=0;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vlag[1]=1;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Dekker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!=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if (beurt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vlag[0]=0;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while (beurt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vlag[0]=1;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!=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if (beurt ==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vlag[1]=0;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while (beurt == 0){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vlag[1]=1;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beurt=1;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(vlag[1] != 0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&amp;&amp; beurt == 1){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(vlag[0] != 0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&amp;&amp; beurt == 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last=0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 (vlag[1] != 0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&amp;&amp;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 == 0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3578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last=1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 (vlag[0] != 0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&amp;&amp;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 == 1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128600" y="1295280"/>
            <a:ext cx="6886080" cy="4899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2)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vlag[i]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last=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 (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vlag[1-i]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!=0 &amp;&amp; last==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1" name="Group 8"/>
          <p:cNvGrpSpPr/>
          <p:nvPr/>
        </p:nvGrpSpPr>
        <p:grpSpPr>
          <a:xfrm>
            <a:off x="235080" y="4332240"/>
            <a:ext cx="789840" cy="636840"/>
            <a:chOff x="235080" y="4332240"/>
            <a:chExt cx="789840" cy="636840"/>
          </a:xfrm>
        </p:grpSpPr>
        <p:grpSp>
          <p:nvGrpSpPr>
            <p:cNvPr id="122" name="Group 9"/>
            <p:cNvGrpSpPr/>
            <p:nvPr/>
          </p:nvGrpSpPr>
          <p:grpSpPr>
            <a:xfrm>
              <a:off x="235080" y="4332240"/>
              <a:ext cx="789840" cy="518760"/>
              <a:chOff x="235080" y="4332240"/>
              <a:chExt cx="789840" cy="518760"/>
            </a:xfrm>
          </p:grpSpPr>
          <p:sp>
            <p:nvSpPr>
              <p:cNvPr id="123" name="Rectangle 10"/>
              <p:cNvSpPr/>
              <p:nvPr/>
            </p:nvSpPr>
            <p:spPr>
              <a:xfrm>
                <a:off x="312840" y="4395960"/>
                <a:ext cx="632880" cy="385560"/>
              </a:xfrm>
              <a:prstGeom prst="rect">
                <a:avLst/>
              </a:prstGeom>
              <a:solidFill>
                <a:srgbClr val="000099"/>
              </a:solidFill>
              <a:ln w="222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lang="nl-BE" sz="1600" b="1" i="1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4" name="Text Box 11"/>
              <p:cNvSpPr/>
              <p:nvPr/>
            </p:nvSpPr>
            <p:spPr>
              <a:xfrm>
                <a:off x="23508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66ff33"/>
                    </a:solidFill>
                    <a:effectLst/>
                    <a:uFillTx/>
                    <a:latin typeface="Wingdings"/>
                  </a:rPr>
                  <a:t>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Text Box 12"/>
              <p:cNvSpPr/>
              <p:nvPr/>
            </p:nvSpPr>
            <p:spPr>
              <a:xfrm>
                <a:off x="52380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ff0000"/>
                    </a:solidFill>
                    <a:effectLst/>
                    <a:uFillTx/>
                    <a:latin typeface="Wingdings"/>
                  </a:rPr>
                  <a:t>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" name="Line 13"/>
            <p:cNvSpPr/>
            <p:nvPr/>
          </p:nvSpPr>
          <p:spPr>
            <a:xfrm flipH="1">
              <a:off x="304560" y="4968720"/>
              <a:ext cx="641520" cy="36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128600" y="1295280"/>
            <a:ext cx="6886080" cy="4899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2)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last=i;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(vlag[1-i]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&gt;=vlag[i]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last==i)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9" name="Group 8"/>
          <p:cNvGrpSpPr/>
          <p:nvPr/>
        </p:nvGrpSpPr>
        <p:grpSpPr>
          <a:xfrm>
            <a:off x="235080" y="4332240"/>
            <a:ext cx="789840" cy="636840"/>
            <a:chOff x="235080" y="4332240"/>
            <a:chExt cx="789840" cy="636840"/>
          </a:xfrm>
        </p:grpSpPr>
        <p:grpSp>
          <p:nvGrpSpPr>
            <p:cNvPr id="130" name="Group 9"/>
            <p:cNvGrpSpPr/>
            <p:nvPr/>
          </p:nvGrpSpPr>
          <p:grpSpPr>
            <a:xfrm>
              <a:off x="235080" y="4332240"/>
              <a:ext cx="789840" cy="518760"/>
              <a:chOff x="235080" y="4332240"/>
              <a:chExt cx="789840" cy="518760"/>
            </a:xfrm>
          </p:grpSpPr>
          <p:sp>
            <p:nvSpPr>
              <p:cNvPr id="131" name="Rectangle 10"/>
              <p:cNvSpPr/>
              <p:nvPr/>
            </p:nvSpPr>
            <p:spPr>
              <a:xfrm>
                <a:off x="312840" y="4395960"/>
                <a:ext cx="632880" cy="385560"/>
              </a:xfrm>
              <a:prstGeom prst="rect">
                <a:avLst/>
              </a:prstGeom>
              <a:solidFill>
                <a:srgbClr val="000099"/>
              </a:solidFill>
              <a:ln w="222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lang="nl-BE" sz="1600" b="1" i="1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2" name="Text Box 11"/>
              <p:cNvSpPr/>
              <p:nvPr/>
            </p:nvSpPr>
            <p:spPr>
              <a:xfrm>
                <a:off x="23508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66ff33"/>
                    </a:solidFill>
                    <a:effectLst/>
                    <a:uFillTx/>
                    <a:latin typeface="Wingdings"/>
                  </a:rPr>
                  <a:t>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Text Box 12"/>
              <p:cNvSpPr/>
              <p:nvPr/>
            </p:nvSpPr>
            <p:spPr>
              <a:xfrm>
                <a:off x="52380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ff0000"/>
                    </a:solidFill>
                    <a:effectLst/>
                    <a:uFillTx/>
                    <a:latin typeface="Wingdings"/>
                  </a:rPr>
                  <a:t>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Line 13"/>
            <p:cNvSpPr/>
            <p:nvPr/>
          </p:nvSpPr>
          <p:spPr>
            <a:xfrm flipH="1">
              <a:off x="304560" y="4968720"/>
              <a:ext cx="641520" cy="36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128600" y="1295280"/>
            <a:ext cx="6886080" cy="4899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                                       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= 2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last=i;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for (k=0 ; k&lt;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; k++) {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if (k==i)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k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]&gt;=vlag[i] &amp;&amp; last==i)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7" name="Group 8"/>
          <p:cNvGrpSpPr/>
          <p:nvPr/>
        </p:nvGrpSpPr>
        <p:grpSpPr>
          <a:xfrm>
            <a:off x="235080" y="4332240"/>
            <a:ext cx="789840" cy="636840"/>
            <a:chOff x="235080" y="4332240"/>
            <a:chExt cx="789840" cy="636840"/>
          </a:xfrm>
        </p:grpSpPr>
        <p:grpSp>
          <p:nvGrpSpPr>
            <p:cNvPr id="138" name="Group 9"/>
            <p:cNvGrpSpPr/>
            <p:nvPr/>
          </p:nvGrpSpPr>
          <p:grpSpPr>
            <a:xfrm>
              <a:off x="235080" y="4332240"/>
              <a:ext cx="789840" cy="518760"/>
              <a:chOff x="235080" y="4332240"/>
              <a:chExt cx="789840" cy="518760"/>
            </a:xfrm>
          </p:grpSpPr>
          <p:sp>
            <p:nvSpPr>
              <p:cNvPr id="139" name="Rectangle 10"/>
              <p:cNvSpPr/>
              <p:nvPr/>
            </p:nvSpPr>
            <p:spPr>
              <a:xfrm>
                <a:off x="312840" y="4395960"/>
                <a:ext cx="632880" cy="385560"/>
              </a:xfrm>
              <a:prstGeom prst="rect">
                <a:avLst/>
              </a:prstGeom>
              <a:solidFill>
                <a:srgbClr val="000099"/>
              </a:solidFill>
              <a:ln w="222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lang="nl-BE" sz="1600" b="1" i="1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0" name="Text Box 11"/>
              <p:cNvSpPr/>
              <p:nvPr/>
            </p:nvSpPr>
            <p:spPr>
              <a:xfrm>
                <a:off x="23508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66ff33"/>
                    </a:solidFill>
                    <a:effectLst/>
                    <a:uFillTx/>
                    <a:latin typeface="Wingdings"/>
                  </a:rPr>
                  <a:t>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Text Box 12"/>
              <p:cNvSpPr/>
              <p:nvPr/>
            </p:nvSpPr>
            <p:spPr>
              <a:xfrm>
                <a:off x="52380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ff0000"/>
                    </a:solidFill>
                    <a:effectLst/>
                    <a:uFillTx/>
                    <a:latin typeface="Wingdings"/>
                  </a:rPr>
                  <a:t>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2" name="Line 13"/>
            <p:cNvSpPr/>
            <p:nvPr/>
          </p:nvSpPr>
          <p:spPr>
            <a:xfrm flipH="1">
              <a:off x="304560" y="4968720"/>
              <a:ext cx="641520" cy="36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0" y="4284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128600" y="1295280"/>
            <a:ext cx="6886080" cy="4899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j=1;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                                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= 2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j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last[j]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=i;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for (k=0 ; k&lt;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 k++) {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(k==i)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(vlag[k]&gt;=vlag[i] &amp;&amp;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last[j]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==i)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 Box 7"/>
          <p:cNvSpPr/>
          <p:nvPr/>
        </p:nvSpPr>
        <p:spPr>
          <a:xfrm>
            <a:off x="920880" y="2022480"/>
            <a:ext cx="320400" cy="2781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roup 23"/>
          <p:cNvGrpSpPr/>
          <p:nvPr/>
        </p:nvGrpSpPr>
        <p:grpSpPr>
          <a:xfrm>
            <a:off x="235080" y="4332240"/>
            <a:ext cx="789840" cy="636840"/>
            <a:chOff x="235080" y="4332240"/>
            <a:chExt cx="789840" cy="636840"/>
          </a:xfrm>
        </p:grpSpPr>
        <p:grpSp>
          <p:nvGrpSpPr>
            <p:cNvPr id="147" name="Group 21"/>
            <p:cNvGrpSpPr/>
            <p:nvPr/>
          </p:nvGrpSpPr>
          <p:grpSpPr>
            <a:xfrm>
              <a:off x="235080" y="4332240"/>
              <a:ext cx="789840" cy="518760"/>
              <a:chOff x="235080" y="4332240"/>
              <a:chExt cx="789840" cy="518760"/>
            </a:xfrm>
          </p:grpSpPr>
          <p:sp>
            <p:nvSpPr>
              <p:cNvPr id="148" name="Rectangle 5"/>
              <p:cNvSpPr/>
              <p:nvPr/>
            </p:nvSpPr>
            <p:spPr>
              <a:xfrm>
                <a:off x="312840" y="4395960"/>
                <a:ext cx="632880" cy="385560"/>
              </a:xfrm>
              <a:prstGeom prst="rect">
                <a:avLst/>
              </a:prstGeom>
              <a:solidFill>
                <a:srgbClr val="000099"/>
              </a:solidFill>
              <a:ln w="222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lang="nl-BE" sz="1600" b="1" i="1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9" name="Text Box 17"/>
              <p:cNvSpPr/>
              <p:nvPr/>
            </p:nvSpPr>
            <p:spPr>
              <a:xfrm>
                <a:off x="23508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66ff33"/>
                    </a:solidFill>
                    <a:effectLst/>
                    <a:uFillTx/>
                    <a:latin typeface="Wingdings"/>
                  </a:rPr>
                  <a:t>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Text Box 19"/>
              <p:cNvSpPr/>
              <p:nvPr/>
            </p:nvSpPr>
            <p:spPr>
              <a:xfrm>
                <a:off x="523800" y="4332240"/>
                <a:ext cx="501120" cy="5187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GB" sz="2800" b="0" u="none" strike="noStrike">
                    <a:solidFill>
                      <a:srgbClr val="ff0000"/>
                    </a:solidFill>
                    <a:effectLst/>
                    <a:uFillTx/>
                    <a:latin typeface="Wingdings"/>
                  </a:rPr>
                  <a:t>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1" name="Line 22"/>
            <p:cNvSpPr/>
            <p:nvPr/>
          </p:nvSpPr>
          <p:spPr>
            <a:xfrm flipH="1">
              <a:off x="304560" y="4968720"/>
              <a:ext cx="641520" cy="36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0" y="4428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Peterson,</a:t>
            </a: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</a:t>
            </a: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processen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1128600" y="1295280"/>
            <a:ext cx="6960960" cy="4899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for (j=1 ; j&lt;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vlag[i]=j;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last[j]=i;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(k=0 ; k&lt;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; k++) {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(k==i)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(vlag[k]&gt;=vlag[i] &amp;&amp; last[j]==i)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54" name="Group 61"/>
          <p:cNvGrpSpPr/>
          <p:nvPr/>
        </p:nvGrpSpPr>
        <p:grpSpPr>
          <a:xfrm>
            <a:off x="152280" y="2001960"/>
            <a:ext cx="1361880" cy="2967120"/>
            <a:chOff x="152280" y="2001960"/>
            <a:chExt cx="1361880" cy="2967120"/>
          </a:xfrm>
        </p:grpSpPr>
        <p:sp>
          <p:nvSpPr>
            <p:cNvPr id="155" name="Rectangle 12"/>
            <p:cNvSpPr/>
            <p:nvPr/>
          </p:nvSpPr>
          <p:spPr>
            <a:xfrm>
              <a:off x="312840" y="4395960"/>
              <a:ext cx="632880" cy="385560"/>
            </a:xfrm>
            <a:prstGeom prst="rect">
              <a:avLst/>
            </a:prstGeom>
            <a:solidFill>
              <a:srgbClr val="cc66ff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Rectangle 9"/>
            <p:cNvSpPr/>
            <p:nvPr/>
          </p:nvSpPr>
          <p:spPr>
            <a:xfrm>
              <a:off x="312840" y="3227400"/>
              <a:ext cx="632880" cy="39348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Text Box 5"/>
            <p:cNvSpPr/>
            <p:nvPr/>
          </p:nvSpPr>
          <p:spPr>
            <a:xfrm>
              <a:off x="920880" y="2022480"/>
              <a:ext cx="593280" cy="2781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n-1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n-2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n-3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…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GB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6"/>
            <p:cNvSpPr/>
            <p:nvPr/>
          </p:nvSpPr>
          <p:spPr>
            <a:xfrm>
              <a:off x="311040" y="2068560"/>
              <a:ext cx="632880" cy="385560"/>
            </a:xfrm>
            <a:prstGeom prst="rect">
              <a:avLst/>
            </a:prstGeom>
            <a:solidFill>
              <a:srgbClr val="000099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Rectangle 7"/>
            <p:cNvSpPr/>
            <p:nvPr/>
          </p:nvSpPr>
          <p:spPr>
            <a:xfrm>
              <a:off x="312840" y="2454120"/>
              <a:ext cx="632880" cy="385560"/>
            </a:xfrm>
            <a:prstGeom prst="rect">
              <a:avLst/>
            </a:prstGeom>
            <a:solidFill>
              <a:srgbClr val="0000ff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Rectangle 8"/>
            <p:cNvSpPr/>
            <p:nvPr/>
          </p:nvSpPr>
          <p:spPr>
            <a:xfrm>
              <a:off x="311040" y="2843280"/>
              <a:ext cx="632880" cy="385560"/>
            </a:xfrm>
            <a:prstGeom prst="rect">
              <a:avLst/>
            </a:prstGeom>
            <a:solidFill>
              <a:srgbClr val="3366ff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1" name="Rectangle 10"/>
            <p:cNvSpPr/>
            <p:nvPr/>
          </p:nvSpPr>
          <p:spPr>
            <a:xfrm>
              <a:off x="311040" y="3621240"/>
              <a:ext cx="632880" cy="385560"/>
            </a:xfrm>
            <a:prstGeom prst="rect">
              <a:avLst/>
            </a:prstGeom>
            <a:solidFill>
              <a:srgbClr val="6666ff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2" name="Rectangle 11"/>
            <p:cNvSpPr/>
            <p:nvPr/>
          </p:nvSpPr>
          <p:spPr>
            <a:xfrm>
              <a:off x="311040" y="4010040"/>
              <a:ext cx="632880" cy="385560"/>
            </a:xfrm>
            <a:prstGeom prst="rect">
              <a:avLst/>
            </a:prstGeom>
            <a:solidFill>
              <a:srgbClr val="9966ff"/>
            </a:solidFill>
            <a:ln w="222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3" name="Line 27"/>
            <p:cNvSpPr/>
            <p:nvPr/>
          </p:nvSpPr>
          <p:spPr>
            <a:xfrm flipV="1">
              <a:off x="152280" y="2209680"/>
              <a:ext cx="360" cy="243828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4" name="Text Box 28"/>
            <p:cNvSpPr/>
            <p:nvPr/>
          </p:nvSpPr>
          <p:spPr>
            <a:xfrm>
              <a:off x="235080" y="200196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66ff33"/>
                  </a:solidFill>
                  <a:effectLst/>
                  <a:uFillTx/>
                  <a:latin typeface="Wingdings"/>
                </a:rPr>
                <a:t>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 Box 29"/>
            <p:cNvSpPr/>
            <p:nvPr/>
          </p:nvSpPr>
          <p:spPr>
            <a:xfrm>
              <a:off x="235080" y="238932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ff0000"/>
                  </a:solidFill>
                  <a:effectLst/>
                  <a:uFillTx/>
                  <a:latin typeface="Wingdings"/>
                </a:rPr>
                <a:t>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Text Box 31"/>
            <p:cNvSpPr/>
            <p:nvPr/>
          </p:nvSpPr>
          <p:spPr>
            <a:xfrm>
              <a:off x="235080" y="355428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00ffff"/>
                  </a:solidFill>
                  <a:effectLst/>
                  <a:uFillTx/>
                  <a:latin typeface="Wingdings"/>
                </a:rPr>
                <a:t>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Text Box 33"/>
            <p:cNvSpPr/>
            <p:nvPr/>
          </p:nvSpPr>
          <p:spPr>
            <a:xfrm>
              <a:off x="235080" y="433224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00ffff"/>
                  </a:solidFill>
                  <a:effectLst/>
                  <a:uFillTx/>
                  <a:latin typeface="Wingdings"/>
                </a:rPr>
                <a:t>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 Box 34"/>
            <p:cNvSpPr/>
            <p:nvPr/>
          </p:nvSpPr>
          <p:spPr>
            <a:xfrm>
              <a:off x="523800" y="200196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ff0000"/>
                  </a:solidFill>
                  <a:effectLst/>
                  <a:uFillTx/>
                  <a:latin typeface="Wingdings"/>
                </a:rPr>
                <a:t>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 Box 39"/>
            <p:cNvSpPr/>
            <p:nvPr/>
          </p:nvSpPr>
          <p:spPr>
            <a:xfrm>
              <a:off x="523800" y="433224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ff0000"/>
                  </a:solidFill>
                  <a:effectLst/>
                  <a:uFillTx/>
                  <a:latin typeface="Wingdings"/>
                </a:rPr>
                <a:t>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 Box 40"/>
            <p:cNvSpPr/>
            <p:nvPr/>
          </p:nvSpPr>
          <p:spPr>
            <a:xfrm>
              <a:off x="523800" y="3554280"/>
              <a:ext cx="501120" cy="51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2800" b="0" u="none" strike="noStrike">
                  <a:solidFill>
                    <a:srgbClr val="ff0000"/>
                  </a:solidFill>
                  <a:effectLst/>
                  <a:uFillTx/>
                  <a:latin typeface="Wingdings"/>
                </a:rPr>
                <a:t>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Line 53"/>
            <p:cNvSpPr/>
            <p:nvPr/>
          </p:nvSpPr>
          <p:spPr>
            <a:xfrm flipH="1">
              <a:off x="304560" y="4968720"/>
              <a:ext cx="641520" cy="360"/>
            </a:xfrm>
            <a:prstGeom prst="line">
              <a:avLst/>
            </a:prstGeom>
            <a:ln w="349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vlag[i]=-1;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4" name="Group 33"/>
          <p:cNvGrpSpPr/>
          <p:nvPr/>
        </p:nvGrpSpPr>
        <p:grpSpPr>
          <a:xfrm>
            <a:off x="5659920" y="3206880"/>
            <a:ext cx="3663000" cy="3829680"/>
            <a:chOff x="5659920" y="3206880"/>
            <a:chExt cx="3663000" cy="3829680"/>
          </a:xfrm>
        </p:grpSpPr>
        <p:sp>
          <p:nvSpPr>
            <p:cNvPr id="175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6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9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1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2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5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6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7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8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0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1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Text Box 23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Line 26"/>
            <p:cNvSpPr/>
            <p:nvPr/>
          </p:nvSpPr>
          <p:spPr>
            <a:xfrm>
              <a:off x="7487280" y="3490560"/>
              <a:ext cx="6120" cy="42444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4" name="Line 27"/>
            <p:cNvSpPr/>
            <p:nvPr/>
          </p:nvSpPr>
          <p:spPr>
            <a:xfrm flipH="1">
              <a:off x="7985160" y="3614400"/>
              <a:ext cx="153360" cy="39564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5" name="Line 28"/>
            <p:cNvSpPr/>
            <p:nvPr/>
          </p:nvSpPr>
          <p:spPr>
            <a:xfrm>
              <a:off x="6828840" y="3613320"/>
              <a:ext cx="164520" cy="3913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Text Box 29"/>
            <p:cNvSpPr/>
            <p:nvPr/>
          </p:nvSpPr>
          <p:spPr>
            <a:xfrm>
              <a:off x="7331040" y="320688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Text Box 30"/>
            <p:cNvSpPr/>
            <p:nvPr/>
          </p:nvSpPr>
          <p:spPr>
            <a:xfrm>
              <a:off x="8002440" y="332892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Box 31"/>
            <p:cNvSpPr/>
            <p:nvPr/>
          </p:nvSpPr>
          <p:spPr>
            <a:xfrm>
              <a:off x="6488280" y="3338640"/>
              <a:ext cx="59328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n-1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vlag[i]=-1;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for (j=beurt ; j!=i ; j=(j+1)%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while (vlag[j]!=0)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1" name="Group 4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202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3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5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6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7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9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0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1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2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3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4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5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6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7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8" name="Line 21"/>
            <p:cNvSpPr/>
            <p:nvPr/>
          </p:nvSpPr>
          <p:spPr>
            <a:xfrm flipH="1">
              <a:off x="8372160" y="3956040"/>
              <a:ext cx="290520" cy="30780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9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Text Box 23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Text Box 24"/>
            <p:cNvSpPr/>
            <p:nvPr/>
          </p:nvSpPr>
          <p:spPr>
            <a:xfrm>
              <a:off x="7869240" y="3705120"/>
              <a:ext cx="896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beurt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vlag[i]=-1;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(j=beurt ; j!=i ; j=(j+1)%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(vlag[j]!=0)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for (j=0 ; j&lt;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if (vlag[j]==+1 &amp;&amp; j!=i)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 break;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4" name="Group 29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225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6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7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9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0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1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2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3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4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5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6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7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8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9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0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1" name="Line 21"/>
            <p:cNvSpPr/>
            <p:nvPr/>
          </p:nvSpPr>
          <p:spPr>
            <a:xfrm flipH="1">
              <a:off x="8372160" y="3956040"/>
              <a:ext cx="290520" cy="30780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2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3" name="Text Box 23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Text Box 24"/>
            <p:cNvSpPr/>
            <p:nvPr/>
          </p:nvSpPr>
          <p:spPr>
            <a:xfrm>
              <a:off x="7869240" y="3705120"/>
              <a:ext cx="896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beurt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Line 26"/>
            <p:cNvSpPr/>
            <p:nvPr/>
          </p:nvSpPr>
          <p:spPr>
            <a:xfrm flipH="1">
              <a:off x="8672760" y="4511880"/>
              <a:ext cx="384840" cy="17676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6" name="Text Box 27"/>
            <p:cNvSpPr/>
            <p:nvPr/>
          </p:nvSpPr>
          <p:spPr>
            <a:xfrm>
              <a:off x="8790120" y="421488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j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vlag[i]=-1;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(j=beurt ; j!=i ; j=(j+1)%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(vlag[j]!=0)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(j=0 ; j&lt;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(vlag[j]==+1 &amp;&amp; j!=i)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break;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if (j==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beurt=i;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49" name="Group 25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250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1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3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4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7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1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2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3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4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5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6" name="Line 21"/>
            <p:cNvSpPr/>
            <p:nvPr/>
          </p:nvSpPr>
          <p:spPr>
            <a:xfrm flipH="1" flipV="1">
              <a:off x="8509680" y="6005520"/>
              <a:ext cx="336600" cy="25668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Text Box 23"/>
            <p:cNvSpPr/>
            <p:nvPr/>
          </p:nvSpPr>
          <p:spPr>
            <a:xfrm>
              <a:off x="8032680" y="6249960"/>
              <a:ext cx="11790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beurt=i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repeat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vlag[i]=-1;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(j=beurt ; j!=i ; j=(j+1)%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(vlag[j]!=0)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(j=0 ; j&lt;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(vlag[j]==+1 &amp;&amp; j!=i)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break;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(j==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beurt=i;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} until (j==</a:t>
            </a:r>
            <a:r>
              <a:rPr lang="nl-BE" sz="18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71" name="Group 1054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272" name="AutoShape 1031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3" name="AutoShape 1032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4" name="AutoShape 1033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5" name="AutoShape 1034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AutoShape 1035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AutoShape 1036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8" name="AutoShape 1037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9" name="AutoShape 1038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0" name="AutoShape 1039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1" name="AutoShape 1040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2" name="AutoShape 1041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3" name="AutoShape 1042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4" name="AutoShape 1043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5" name="AutoShape 1044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AutoShape 1045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7" name="Arc 1046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8" name="Line 1048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Text Box 1049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Line 1052"/>
            <p:cNvSpPr/>
            <p:nvPr/>
          </p:nvSpPr>
          <p:spPr>
            <a:xfrm flipH="1">
              <a:off x="8672760" y="4511880"/>
              <a:ext cx="384840" cy="17676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1" name="Text Box 1053"/>
            <p:cNvSpPr/>
            <p:nvPr/>
          </p:nvSpPr>
          <p:spPr>
            <a:xfrm>
              <a:off x="8790120" y="421488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j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repeat {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. . .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(j=0 ; j&lt;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(vlag[j]==+1 &amp;&amp; j!=i)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break;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(j==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beurt=i;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 until (j==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j=(j+1)%n;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while(vlag[j]==0)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j=(j+1)%n;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beurt=j;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94" name="Group 4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295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6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7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8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9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0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1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2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3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4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5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6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7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8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9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0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1" name="Line 21"/>
            <p:cNvSpPr/>
            <p:nvPr/>
          </p:nvSpPr>
          <p:spPr>
            <a:xfrm flipH="1">
              <a:off x="8372160" y="3956040"/>
              <a:ext cx="290520" cy="30780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2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3" name="Text Box 23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Text Box 24"/>
            <p:cNvSpPr/>
            <p:nvPr/>
          </p:nvSpPr>
          <p:spPr>
            <a:xfrm>
              <a:off x="7869240" y="3705120"/>
              <a:ext cx="896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beurt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algoritme van Eisenberg &amp; McGuire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1666800" y="985680"/>
            <a:ext cx="581004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i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i &lt; </a:t>
            </a:r>
            <a:r>
              <a:rPr lang="nl-BE" sz="1800" b="1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repeat {  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. . .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vlag[i]=+1;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for (j=0 ; j&lt;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; j++)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if (vlag[j]==+1 &amp;&amp; j!=i)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break;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(j==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&amp;&amp; vlag[beurt]==0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beurt=i;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 until (j==</a:t>
            </a:r>
            <a:r>
              <a:rPr lang="nl-BE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&amp;&amp; beurt==i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j=(j+1)%n;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while(vlag[j]==0)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j=(j+1)%n;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beurt=j;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vlag[i]=0;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17" name="Group 4"/>
          <p:cNvGrpSpPr/>
          <p:nvPr/>
        </p:nvGrpSpPr>
        <p:grpSpPr>
          <a:xfrm>
            <a:off x="5659920" y="3373560"/>
            <a:ext cx="3663000" cy="3663000"/>
            <a:chOff x="5659920" y="3373560"/>
            <a:chExt cx="3663000" cy="3663000"/>
          </a:xfrm>
        </p:grpSpPr>
        <p:sp>
          <p:nvSpPr>
            <p:cNvPr id="318" name="AutoShape 5"/>
            <p:cNvSpPr/>
            <p:nvPr/>
          </p:nvSpPr>
          <p:spPr>
            <a:xfrm rot="18060000">
              <a:off x="6195960" y="3910320"/>
              <a:ext cx="2590560" cy="2590560"/>
            </a:xfrm>
            <a:custGeom>
              <a:avLst/>
              <a:gdLst>
                <a:gd name="textAreaLeft" fmla="*/ 514080 w 2590560"/>
                <a:gd name="textAreaRight" fmla="*/ 2076480 w 2590560"/>
                <a:gd name="textAreaTop" fmla="*/ 0 h 2590560"/>
                <a:gd name="textAreaBottom" fmla="*/ 79848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8501" y="6152"/>
                  </a:moveTo>
                  <a:cubicBezTo>
                    <a:pt x="9215" y="5798"/>
                    <a:pt x="10002" y="5614"/>
                    <a:pt x="10800" y="5615"/>
                  </a:cubicBezTo>
                  <a:cubicBezTo>
                    <a:pt x="11597" y="5615"/>
                    <a:pt x="12384" y="5798"/>
                    <a:pt x="13098" y="6152"/>
                  </a:cubicBezTo>
                  <a:lnTo>
                    <a:pt x="15588" y="1119"/>
                  </a:lnTo>
                  <a:cubicBezTo>
                    <a:pt x="14099" y="383"/>
                    <a:pt x="12460" y="-1"/>
                    <a:pt x="10799" y="0"/>
                  </a:cubicBezTo>
                  <a:cubicBezTo>
                    <a:pt x="9139" y="0"/>
                    <a:pt x="7500" y="383"/>
                    <a:pt x="6011" y="1119"/>
                  </a:cubicBezTo>
                  <a:close/>
                </a:path>
              </a:pathLst>
            </a:custGeom>
            <a:noFill/>
            <a:ln w="34925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9" name="AutoShape 6"/>
            <p:cNvSpPr/>
            <p:nvPr/>
          </p:nvSpPr>
          <p:spPr>
            <a:xfrm rot="528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0" name="AutoShape 7"/>
            <p:cNvSpPr/>
            <p:nvPr/>
          </p:nvSpPr>
          <p:spPr>
            <a:xfrm rot="39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AutoShape 8"/>
            <p:cNvSpPr/>
            <p:nvPr/>
          </p:nvSpPr>
          <p:spPr>
            <a:xfrm rot="264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AutoShape 9"/>
            <p:cNvSpPr/>
            <p:nvPr/>
          </p:nvSpPr>
          <p:spPr>
            <a:xfrm rot="1320000">
              <a:off x="6195960" y="390960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3" name="AutoShape 10"/>
            <p:cNvSpPr/>
            <p:nvPr/>
          </p:nvSpPr>
          <p:spPr>
            <a:xfrm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AutoShape 11"/>
            <p:cNvSpPr/>
            <p:nvPr/>
          </p:nvSpPr>
          <p:spPr>
            <a:xfrm rot="20280000">
              <a:off x="619560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AutoShape 12"/>
            <p:cNvSpPr/>
            <p:nvPr/>
          </p:nvSpPr>
          <p:spPr>
            <a:xfrm rot="158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6" name="AutoShape 13"/>
            <p:cNvSpPr/>
            <p:nvPr/>
          </p:nvSpPr>
          <p:spPr>
            <a:xfrm rot="145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7" name="AutoShape 14"/>
            <p:cNvSpPr/>
            <p:nvPr/>
          </p:nvSpPr>
          <p:spPr>
            <a:xfrm rot="1320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8" name="AutoShape 15"/>
            <p:cNvSpPr/>
            <p:nvPr/>
          </p:nvSpPr>
          <p:spPr>
            <a:xfrm rot="11880000">
              <a:off x="6195960" y="391032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9" name="AutoShape 16"/>
            <p:cNvSpPr/>
            <p:nvPr/>
          </p:nvSpPr>
          <p:spPr>
            <a:xfrm rot="1056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0" name="AutoShape 17"/>
            <p:cNvSpPr/>
            <p:nvPr/>
          </p:nvSpPr>
          <p:spPr>
            <a:xfrm rot="924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1" name="AutoShape 18"/>
            <p:cNvSpPr/>
            <p:nvPr/>
          </p:nvSpPr>
          <p:spPr>
            <a:xfrm rot="7920000">
              <a:off x="619596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2" name="AutoShape 19"/>
            <p:cNvSpPr/>
            <p:nvPr/>
          </p:nvSpPr>
          <p:spPr>
            <a:xfrm rot="6600000">
              <a:off x="6196320" y="3909960"/>
              <a:ext cx="2590560" cy="2590560"/>
            </a:xfrm>
            <a:custGeom>
              <a:avLst/>
              <a:gdLst>
                <a:gd name="textAreaLeft" fmla="*/ 844560 w 2590560"/>
                <a:gd name="textAreaRight" fmla="*/ 1746000 w 2590560"/>
                <a:gd name="textAreaTop" fmla="*/ 0 h 2590560"/>
                <a:gd name="textAreaBottom" fmla="*/ 728640 h 2590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9836" y="5855"/>
                  </a:moveTo>
                  <a:cubicBezTo>
                    <a:pt x="10153" y="5793"/>
                    <a:pt x="10476" y="5761"/>
                    <a:pt x="10800" y="5762"/>
                  </a:cubicBezTo>
                  <a:cubicBezTo>
                    <a:pt x="11123" y="5762"/>
                    <a:pt x="11446" y="5793"/>
                    <a:pt x="11763" y="5855"/>
                  </a:cubicBezTo>
                  <a:lnTo>
                    <a:pt x="12866" y="199"/>
                  </a:lnTo>
                  <a:cubicBezTo>
                    <a:pt x="12185" y="66"/>
                    <a:pt x="11493" y="-1"/>
                    <a:pt x="10799" y="0"/>
                  </a:cubicBezTo>
                  <a:cubicBezTo>
                    <a:pt x="10106" y="0"/>
                    <a:pt x="9414" y="66"/>
                    <a:pt x="8733" y="199"/>
                  </a:cubicBez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3" name="Arc 20"/>
            <p:cNvSpPr/>
            <p:nvPr/>
          </p:nvSpPr>
          <p:spPr>
            <a:xfrm>
              <a:off x="7488360" y="4753080"/>
              <a:ext cx="447480" cy="745920"/>
            </a:xfrm>
            <a:custGeom>
              <a:avLst/>
              <a:gdLst>
                <a:gd name="textAreaLeft" fmla="*/ 0 w 447480"/>
                <a:gd name="textAreaRight" fmla="*/ 447840 w 447480"/>
                <a:gd name="textAreaTop" fmla="*/ 0 h 745920"/>
                <a:gd name="textAreaBottom" fmla="*/ 746280 h 745920"/>
                <a:gd name="GluePoint1X" fmla="*/ 0 w 21600"/>
                <a:gd name="GluePoint1Y" fmla="*/ 0 h 35916"/>
                <a:gd name="GluePoint2X" fmla="*/ 0 w 21600"/>
                <a:gd name="GluePoint2Y" fmla="*/ 0 h 35916"/>
                <a:gd name="GluePoint3X" fmla="*/ 0 w 21600"/>
                <a:gd name="GluePoint3Y" fmla="*/ 0 h 35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</a:path>
                <a:path stroke="0" w="21600" h="35916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874"/>
                    <a:pt x="19670" y="31966"/>
                    <a:pt x="16174" y="359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4" name="Line 21"/>
            <p:cNvSpPr/>
            <p:nvPr/>
          </p:nvSpPr>
          <p:spPr>
            <a:xfrm flipH="1">
              <a:off x="8372160" y="3956040"/>
              <a:ext cx="290520" cy="30780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5" name="Line 22"/>
            <p:cNvSpPr/>
            <p:nvPr/>
          </p:nvSpPr>
          <p:spPr>
            <a:xfrm flipH="1" flipV="1">
              <a:off x="8449920" y="6074280"/>
              <a:ext cx="319320" cy="279720"/>
            </a:xfrm>
            <a:prstGeom prst="line">
              <a:avLst/>
            </a:prstGeom>
            <a:ln w="31750">
              <a:solidFill>
                <a:srgbClr val="000000"/>
              </a:solidFill>
              <a:round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6" name="Text Box 23"/>
            <p:cNvSpPr/>
            <p:nvPr/>
          </p:nvSpPr>
          <p:spPr>
            <a:xfrm>
              <a:off x="8477280" y="6249960"/>
              <a:ext cx="320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Text Box 24"/>
            <p:cNvSpPr/>
            <p:nvPr/>
          </p:nvSpPr>
          <p:spPr>
            <a:xfrm>
              <a:off x="7869240" y="3705120"/>
              <a:ext cx="896400" cy="366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BE" sz="1800" b="1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beurt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ticket[x]=</a:t>
            </a:r>
            <a:r>
              <a:rPr lang="nl-BE" sz="1800" b="0" i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grootste</a:t>
            </a: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(ticket)+1;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AutoShape 1029"/>
          <p:cNvSpPr/>
          <p:nvPr/>
        </p:nvSpPr>
        <p:spPr>
          <a:xfrm flipH="1" rot="20859000">
            <a:off x="2866680" y="1370160"/>
            <a:ext cx="226800" cy="664920"/>
          </a:xfrm>
          <a:prstGeom prst="lightningBolt">
            <a:avLst/>
          </a:prstGeom>
          <a:solidFill>
            <a:srgbClr val="ff0000"/>
          </a:solidFill>
          <a:ln w="9525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0" y="5638680"/>
            <a:ext cx="9143640" cy="57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59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</a:t>
            </a:r>
            <a:r>
              <a:rPr lang="nl-BE" sz="16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nummer</a:t>
            </a:r>
            <a:r>
              <a:rPr lang="nl-BE" sz="1600" b="1" u="none" strike="noStrike">
                <a:solidFill>
                  <a:schemeClr val="dk1"/>
                </a:solidFill>
                <a:effectLst/>
                <a:uFillTx/>
                <a:latin typeface="Symbol"/>
              </a:rPr>
              <a:t></a:t>
            </a:r>
            <a:r>
              <a:rPr lang="nl-BE" sz="16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ticket[x]=++nummer  </a:t>
            </a: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nl-BE" sz="1600" b="0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</a:t>
            </a:r>
            <a:r>
              <a:rPr lang="nl-BE" sz="1600" b="0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niet_kritieke_sectie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Rectangle 4"/>
          <p:cNvSpPr/>
          <p:nvPr/>
        </p:nvSpPr>
        <p:spPr>
          <a:xfrm>
            <a:off x="6400800" y="1143000"/>
            <a:ext cx="2742840" cy="431748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Rectangle 5"/>
          <p:cNvSpPr/>
          <p:nvPr/>
        </p:nvSpPr>
        <p:spPr>
          <a:xfrm>
            <a:off x="3657600" y="1143000"/>
            <a:ext cx="2742840" cy="43174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Rectangle 6"/>
          <p:cNvSpPr/>
          <p:nvPr/>
        </p:nvSpPr>
        <p:spPr>
          <a:xfrm>
            <a:off x="1523880" y="1143000"/>
            <a:ext cx="2133360" cy="431748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Line 8"/>
          <p:cNvSpPr/>
          <p:nvPr/>
        </p:nvSpPr>
        <p:spPr>
          <a:xfrm>
            <a:off x="3657600" y="4038480"/>
            <a:ext cx="1904760" cy="360"/>
          </a:xfrm>
          <a:prstGeom prst="line">
            <a:avLst/>
          </a:prstGeom>
          <a:ln w="127000">
            <a:solidFill>
              <a:srgbClr val="3333cc"/>
            </a:solidFill>
            <a:round/>
            <a:tailEnd len="sm" type="oval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Rectangle 7"/>
          <p:cNvSpPr/>
          <p:nvPr/>
        </p:nvSpPr>
        <p:spPr>
          <a:xfrm>
            <a:off x="0" y="1143000"/>
            <a:ext cx="1523520" cy="431748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56" name="Group 25"/>
          <p:cNvGrpSpPr/>
          <p:nvPr/>
        </p:nvGrpSpPr>
        <p:grpSpPr>
          <a:xfrm>
            <a:off x="0" y="2133720"/>
            <a:ext cx="1904760" cy="457200"/>
            <a:chOff x="0" y="2133720"/>
            <a:chExt cx="1904760" cy="457200"/>
          </a:xfrm>
        </p:grpSpPr>
        <p:sp>
          <p:nvSpPr>
            <p:cNvPr id="357" name="Line 10"/>
            <p:cNvSpPr/>
            <p:nvPr/>
          </p:nvSpPr>
          <p:spPr>
            <a:xfrm>
              <a:off x="0" y="2590560"/>
              <a:ext cx="1523880" cy="360"/>
            </a:xfrm>
            <a:prstGeom prst="line">
              <a:avLst/>
            </a:prstGeom>
            <a:ln w="127000">
              <a:solidFill>
                <a:srgbClr val="ff0000"/>
              </a:solidFill>
              <a:round/>
              <a:tailEnd len="sm" type="oval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8" name="Rectangle 11"/>
            <p:cNvSpPr/>
            <p:nvPr/>
          </p:nvSpPr>
          <p:spPr>
            <a:xfrm>
              <a:off x="1219320" y="2133720"/>
              <a:ext cx="68544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ff0000"/>
                  </a:solidFill>
                  <a:effectLst/>
                  <a:uFillTx/>
                  <a:latin typeface="Courier New"/>
                </a:rPr>
                <a:t>µ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9" name="Group 26"/>
          <p:cNvGrpSpPr/>
          <p:nvPr/>
        </p:nvGrpSpPr>
        <p:grpSpPr>
          <a:xfrm>
            <a:off x="0" y="3581280"/>
            <a:ext cx="1904760" cy="457560"/>
            <a:chOff x="0" y="3581280"/>
            <a:chExt cx="1904760" cy="457560"/>
          </a:xfrm>
        </p:grpSpPr>
        <p:sp>
          <p:nvSpPr>
            <p:cNvPr id="360" name="Line 16"/>
            <p:cNvSpPr/>
            <p:nvPr/>
          </p:nvSpPr>
          <p:spPr>
            <a:xfrm>
              <a:off x="0" y="4038480"/>
              <a:ext cx="1523880" cy="360"/>
            </a:xfrm>
            <a:prstGeom prst="line">
              <a:avLst/>
            </a:prstGeom>
            <a:ln w="127000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1" name="Rectangle 17"/>
            <p:cNvSpPr/>
            <p:nvPr/>
          </p:nvSpPr>
          <p:spPr>
            <a:xfrm>
              <a:off x="1219320" y="3581280"/>
              <a:ext cx="68544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chemeClr val="accent2"/>
                  </a:solidFill>
                  <a:effectLst/>
                  <a:uFillTx/>
                  <a:latin typeface="Courier New"/>
                </a:rPr>
                <a:t>µ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2" name="Group 28"/>
          <p:cNvGrpSpPr/>
          <p:nvPr/>
        </p:nvGrpSpPr>
        <p:grpSpPr>
          <a:xfrm>
            <a:off x="1523880" y="2133720"/>
            <a:ext cx="2209680" cy="457200"/>
            <a:chOff x="1523880" y="2133720"/>
            <a:chExt cx="2209680" cy="457200"/>
          </a:xfrm>
        </p:grpSpPr>
        <p:sp>
          <p:nvSpPr>
            <p:cNvPr id="363" name="Rectangle 14"/>
            <p:cNvSpPr/>
            <p:nvPr/>
          </p:nvSpPr>
          <p:spPr>
            <a:xfrm>
              <a:off x="2971800" y="213372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ff0000"/>
                  </a:solidFill>
                  <a:effectLst/>
                  <a:uFillTx/>
                  <a:latin typeface="Courier New"/>
                </a:rPr>
                <a:t>µ+1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Line 13"/>
            <p:cNvSpPr/>
            <p:nvPr/>
          </p:nvSpPr>
          <p:spPr>
            <a:xfrm>
              <a:off x="1523880" y="2590560"/>
              <a:ext cx="2133720" cy="360"/>
            </a:xfrm>
            <a:prstGeom prst="line">
              <a:avLst/>
            </a:prstGeom>
            <a:ln w="127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65" name="Group 27"/>
          <p:cNvGrpSpPr/>
          <p:nvPr/>
        </p:nvGrpSpPr>
        <p:grpSpPr>
          <a:xfrm>
            <a:off x="1523880" y="3581280"/>
            <a:ext cx="2209680" cy="457560"/>
            <a:chOff x="1523880" y="3581280"/>
            <a:chExt cx="2209680" cy="457560"/>
          </a:xfrm>
        </p:grpSpPr>
        <p:sp>
          <p:nvSpPr>
            <p:cNvPr id="366" name="Rectangle 19"/>
            <p:cNvSpPr/>
            <p:nvPr/>
          </p:nvSpPr>
          <p:spPr>
            <a:xfrm>
              <a:off x="2971800" y="358128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chemeClr val="accent2"/>
                  </a:solidFill>
                  <a:effectLst/>
                  <a:uFillTx/>
                  <a:latin typeface="Courier New"/>
                </a:rPr>
                <a:t>µ+1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Line 20"/>
            <p:cNvSpPr/>
            <p:nvPr/>
          </p:nvSpPr>
          <p:spPr>
            <a:xfrm>
              <a:off x="1523880" y="4038480"/>
              <a:ext cx="2133720" cy="360"/>
            </a:xfrm>
            <a:prstGeom prst="line">
              <a:avLst/>
            </a:prstGeom>
            <a:ln w="127000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while (ticket[y]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while (ticket[y]==ticket[x])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0" y="5638680"/>
            <a:ext cx="9143640" cy="57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59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</a:t>
            </a:r>
            <a:r>
              <a:rPr lang="nl-BE" sz="16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nummer</a:t>
            </a:r>
            <a:r>
              <a:rPr lang="nl-BE" sz="1600" b="1" u="none" strike="noStrike">
                <a:solidFill>
                  <a:schemeClr val="dk1"/>
                </a:solidFill>
                <a:effectLst/>
                <a:uFillTx/>
                <a:latin typeface="Symbol"/>
              </a:rPr>
              <a:t></a:t>
            </a:r>
            <a:r>
              <a:rPr lang="nl-BE" sz="16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ticket[x]=++nummer  </a:t>
            </a: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nl-BE" sz="1600" b="0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</a:t>
            </a:r>
            <a:r>
              <a:rPr lang="nl-BE" sz="1600" b="0" i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niet_kritieke_sectie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Rectangle 4"/>
          <p:cNvSpPr/>
          <p:nvPr/>
        </p:nvSpPr>
        <p:spPr>
          <a:xfrm>
            <a:off x="6400800" y="1143000"/>
            <a:ext cx="2742840" cy="431748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Rectangle 5"/>
          <p:cNvSpPr/>
          <p:nvPr/>
        </p:nvSpPr>
        <p:spPr>
          <a:xfrm>
            <a:off x="3657600" y="1143000"/>
            <a:ext cx="2742840" cy="43174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Line 8"/>
          <p:cNvSpPr/>
          <p:nvPr/>
        </p:nvSpPr>
        <p:spPr>
          <a:xfrm>
            <a:off x="3657600" y="3276360"/>
            <a:ext cx="838080" cy="360"/>
          </a:xfrm>
          <a:prstGeom prst="line">
            <a:avLst/>
          </a:prstGeom>
          <a:ln w="127000">
            <a:solidFill>
              <a:srgbClr val="3333cc"/>
            </a:solidFill>
            <a:round/>
            <a:tailEnd len="sm" type="oval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Line 9"/>
          <p:cNvSpPr/>
          <p:nvPr/>
        </p:nvSpPr>
        <p:spPr>
          <a:xfrm>
            <a:off x="3657600" y="4419360"/>
            <a:ext cx="2209680" cy="360"/>
          </a:xfrm>
          <a:prstGeom prst="line">
            <a:avLst/>
          </a:prstGeom>
          <a:ln w="127000">
            <a:solidFill>
              <a:srgbClr val="00cc00"/>
            </a:solidFill>
            <a:round/>
            <a:tailEnd len="sm" type="oval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Line 10"/>
          <p:cNvSpPr/>
          <p:nvPr/>
        </p:nvSpPr>
        <p:spPr>
          <a:xfrm>
            <a:off x="3657600" y="2209680"/>
            <a:ext cx="1752480" cy="360"/>
          </a:xfrm>
          <a:prstGeom prst="line">
            <a:avLst/>
          </a:prstGeom>
          <a:ln w="127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Rectangle 6"/>
          <p:cNvSpPr/>
          <p:nvPr/>
        </p:nvSpPr>
        <p:spPr>
          <a:xfrm>
            <a:off x="1523880" y="1143000"/>
            <a:ext cx="2133360" cy="431748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0" name="Group 44"/>
          <p:cNvGrpSpPr/>
          <p:nvPr/>
        </p:nvGrpSpPr>
        <p:grpSpPr>
          <a:xfrm>
            <a:off x="4495680" y="2819520"/>
            <a:ext cx="2971800" cy="457200"/>
            <a:chOff x="4495680" y="2819520"/>
            <a:chExt cx="2971800" cy="457200"/>
          </a:xfrm>
        </p:grpSpPr>
        <p:sp>
          <p:nvSpPr>
            <p:cNvPr id="381" name="Line 30"/>
            <p:cNvSpPr/>
            <p:nvPr/>
          </p:nvSpPr>
          <p:spPr>
            <a:xfrm>
              <a:off x="4495680" y="3276360"/>
              <a:ext cx="2971800" cy="360"/>
            </a:xfrm>
            <a:prstGeom prst="line">
              <a:avLst/>
            </a:prstGeom>
            <a:ln w="127000">
              <a:solidFill>
                <a:srgbClr val="3333cc"/>
              </a:solidFill>
              <a:round/>
              <a:tailEnd len="sm" type="oval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2" name="Rectangle 31"/>
            <p:cNvSpPr/>
            <p:nvPr/>
          </p:nvSpPr>
          <p:spPr>
            <a:xfrm>
              <a:off x="6324480" y="281952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chemeClr val="accent2"/>
                  </a:solidFill>
                  <a:effectLst/>
                  <a:uFillTx/>
                  <a:latin typeface="Courier New"/>
                </a:rPr>
                <a:t>0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3" name="Rectangle 7"/>
          <p:cNvSpPr/>
          <p:nvPr/>
        </p:nvSpPr>
        <p:spPr>
          <a:xfrm>
            <a:off x="0" y="1143000"/>
            <a:ext cx="1523520" cy="431748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4" name="Group 45"/>
          <p:cNvGrpSpPr/>
          <p:nvPr/>
        </p:nvGrpSpPr>
        <p:grpSpPr>
          <a:xfrm>
            <a:off x="1523880" y="1752480"/>
            <a:ext cx="2209680" cy="457560"/>
            <a:chOff x="1523880" y="1752480"/>
            <a:chExt cx="2209680" cy="457560"/>
          </a:xfrm>
        </p:grpSpPr>
        <p:sp>
          <p:nvSpPr>
            <p:cNvPr id="385" name="Line 15"/>
            <p:cNvSpPr/>
            <p:nvPr/>
          </p:nvSpPr>
          <p:spPr>
            <a:xfrm>
              <a:off x="1523880" y="2209680"/>
              <a:ext cx="2133720" cy="360"/>
            </a:xfrm>
            <a:prstGeom prst="line">
              <a:avLst/>
            </a:prstGeom>
            <a:ln w="127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6" name="Rectangle 16"/>
            <p:cNvSpPr/>
            <p:nvPr/>
          </p:nvSpPr>
          <p:spPr>
            <a:xfrm>
              <a:off x="2971800" y="175248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ff0000"/>
                  </a:solidFill>
                  <a:effectLst/>
                  <a:uFillTx/>
                  <a:latin typeface="Courier New"/>
                </a:rPr>
                <a:t>µ+1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7" name="Group 43"/>
          <p:cNvGrpSpPr/>
          <p:nvPr/>
        </p:nvGrpSpPr>
        <p:grpSpPr>
          <a:xfrm>
            <a:off x="1523880" y="3962520"/>
            <a:ext cx="2209680" cy="457200"/>
            <a:chOff x="1523880" y="3962520"/>
            <a:chExt cx="2209680" cy="457200"/>
          </a:xfrm>
        </p:grpSpPr>
        <p:sp>
          <p:nvSpPr>
            <p:cNvPr id="388" name="Line 18"/>
            <p:cNvSpPr/>
            <p:nvPr/>
          </p:nvSpPr>
          <p:spPr>
            <a:xfrm>
              <a:off x="1523880" y="4419360"/>
              <a:ext cx="2133720" cy="360"/>
            </a:xfrm>
            <a:prstGeom prst="line">
              <a:avLst/>
            </a:prstGeom>
            <a:ln w="127000">
              <a:solidFill>
                <a:srgbClr val="00cc00"/>
              </a:solidFill>
              <a:round/>
              <a:tailEnd len="sm" type="oval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9" name="Rectangle 19"/>
            <p:cNvSpPr/>
            <p:nvPr/>
          </p:nvSpPr>
          <p:spPr>
            <a:xfrm>
              <a:off x="2971800" y="396252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00cc00"/>
                  </a:solidFill>
                  <a:effectLst/>
                  <a:uFillTx/>
                  <a:latin typeface="Courier New"/>
                </a:rPr>
                <a:t>µ+2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0" name="Group 41"/>
          <p:cNvGrpSpPr/>
          <p:nvPr/>
        </p:nvGrpSpPr>
        <p:grpSpPr>
          <a:xfrm>
            <a:off x="1523880" y="2819520"/>
            <a:ext cx="2209680" cy="457200"/>
            <a:chOff x="1523880" y="2819520"/>
            <a:chExt cx="2209680" cy="457200"/>
          </a:xfrm>
        </p:grpSpPr>
        <p:sp>
          <p:nvSpPr>
            <p:cNvPr id="391" name="Line 28"/>
            <p:cNvSpPr/>
            <p:nvPr/>
          </p:nvSpPr>
          <p:spPr>
            <a:xfrm>
              <a:off x="1523880" y="3276360"/>
              <a:ext cx="2133720" cy="360"/>
            </a:xfrm>
            <a:prstGeom prst="line">
              <a:avLst/>
            </a:prstGeom>
            <a:ln w="127000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2" name="Rectangle 27"/>
            <p:cNvSpPr/>
            <p:nvPr/>
          </p:nvSpPr>
          <p:spPr>
            <a:xfrm>
              <a:off x="2971800" y="281952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chemeClr val="accent2"/>
                  </a:solidFill>
                  <a:effectLst/>
                  <a:uFillTx/>
                  <a:latin typeface="Courier New"/>
                </a:rPr>
                <a:t>µ+1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3" name="Group 39"/>
          <p:cNvGrpSpPr/>
          <p:nvPr/>
        </p:nvGrpSpPr>
        <p:grpSpPr>
          <a:xfrm>
            <a:off x="0" y="1752480"/>
            <a:ext cx="1904760" cy="457560"/>
            <a:chOff x="0" y="1752480"/>
            <a:chExt cx="1904760" cy="457560"/>
          </a:xfrm>
        </p:grpSpPr>
        <p:sp>
          <p:nvSpPr>
            <p:cNvPr id="394" name="Line 12"/>
            <p:cNvSpPr/>
            <p:nvPr/>
          </p:nvSpPr>
          <p:spPr>
            <a:xfrm>
              <a:off x="0" y="2209680"/>
              <a:ext cx="1523880" cy="360"/>
            </a:xfrm>
            <a:prstGeom prst="line">
              <a:avLst/>
            </a:prstGeom>
            <a:ln w="127000">
              <a:solidFill>
                <a:srgbClr val="ff0000"/>
              </a:solidFill>
              <a:round/>
              <a:tailEnd len="sm" type="oval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5" name="Rectangle 13"/>
            <p:cNvSpPr/>
            <p:nvPr/>
          </p:nvSpPr>
          <p:spPr>
            <a:xfrm>
              <a:off x="1219320" y="1752480"/>
              <a:ext cx="68544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ff0000"/>
                  </a:solidFill>
                  <a:effectLst/>
                  <a:uFillTx/>
                  <a:latin typeface="Courier New"/>
                </a:rPr>
                <a:t>µ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6" name="Group 42"/>
          <p:cNvGrpSpPr/>
          <p:nvPr/>
        </p:nvGrpSpPr>
        <p:grpSpPr>
          <a:xfrm>
            <a:off x="0" y="3962520"/>
            <a:ext cx="1599840" cy="457200"/>
            <a:chOff x="0" y="3962520"/>
            <a:chExt cx="1599840" cy="457200"/>
          </a:xfrm>
        </p:grpSpPr>
        <p:sp>
          <p:nvSpPr>
            <p:cNvPr id="397" name="Line 21"/>
            <p:cNvSpPr/>
            <p:nvPr/>
          </p:nvSpPr>
          <p:spPr>
            <a:xfrm>
              <a:off x="0" y="4419360"/>
              <a:ext cx="1523880" cy="360"/>
            </a:xfrm>
            <a:prstGeom prst="line">
              <a:avLst/>
            </a:prstGeom>
            <a:ln w="127000">
              <a:solidFill>
                <a:srgbClr val="00cc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8" name="Rectangle 22"/>
            <p:cNvSpPr/>
            <p:nvPr/>
          </p:nvSpPr>
          <p:spPr>
            <a:xfrm>
              <a:off x="838080" y="3962520"/>
              <a:ext cx="76176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rgbClr val="00cc00"/>
                  </a:solidFill>
                  <a:effectLst/>
                  <a:uFillTx/>
                  <a:latin typeface="Courier New"/>
                </a:rPr>
                <a:t>µ+1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9" name="Group 40"/>
          <p:cNvGrpSpPr/>
          <p:nvPr/>
        </p:nvGrpSpPr>
        <p:grpSpPr>
          <a:xfrm>
            <a:off x="0" y="2819520"/>
            <a:ext cx="1904760" cy="457200"/>
            <a:chOff x="0" y="2819520"/>
            <a:chExt cx="1904760" cy="457200"/>
          </a:xfrm>
        </p:grpSpPr>
        <p:sp>
          <p:nvSpPr>
            <p:cNvPr id="400" name="Line 24"/>
            <p:cNvSpPr/>
            <p:nvPr/>
          </p:nvSpPr>
          <p:spPr>
            <a:xfrm>
              <a:off x="0" y="3276360"/>
              <a:ext cx="1523880" cy="360"/>
            </a:xfrm>
            <a:prstGeom prst="line">
              <a:avLst/>
            </a:prstGeom>
            <a:ln w="127000">
              <a:solidFill>
                <a:srgbClr val="3333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1" name="Rectangle 25"/>
            <p:cNvSpPr/>
            <p:nvPr/>
          </p:nvSpPr>
          <p:spPr>
            <a:xfrm>
              <a:off x="1219320" y="2819520"/>
              <a:ext cx="685440" cy="4568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343080" indent="-34308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lang="nl-BE" sz="2400" b="1" u="none" strike="noStrike">
                  <a:solidFill>
                    <a:schemeClr val="accent2"/>
                  </a:solidFill>
                  <a:effectLst/>
                  <a:uFillTx/>
                  <a:latin typeface="Courier New"/>
                </a:rPr>
                <a:t>µ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(ticket[y]==ticket[x])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(ticket[y]==ticket[x])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bakkerij</a:t>
            </a: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algoritme van Lamport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1104840" y="985680"/>
            <a:ext cx="6933960" cy="570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  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thread x (0 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Symbol"/>
              </a:rPr>
              <a:t></a:t>
            </a:r>
            <a:r>
              <a:rPr lang="nl-BE" sz="1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 &lt; n)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vlag[x]=1;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ticket[x]=++nummer;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for (y=0 ; y&lt;n ; y++){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(y==x)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continue;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while (vlag[y] != 0)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while (ticket[y]!=0 &amp;&amp; ticket[y]&lt;ticket[x])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sleep(random()); 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(ticket[y]==ticket[x] &amp;&amp; y&lt;x)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while (ticket[y]==ticket[x])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ticket[x]=0;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800" b="0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lang="nl-BE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685800" y="1012680"/>
            <a:ext cx="8457840" cy="2316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alternatieve oplossingen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softwarebenaderingen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 2 processen: algoritmen van Dekker,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processen: algoritmen van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                               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Eisenberg &amp; McGuire, Lamport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Rectangle 4"/>
          <p:cNvSpPr/>
          <p:nvPr/>
        </p:nvSpPr>
        <p:spPr>
          <a:xfrm>
            <a:off x="685800" y="3417840"/>
            <a:ext cx="8457840" cy="183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hardwarebenaderingen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uitschakelen interupts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testset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instructie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exchange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instructie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testset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611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y = testset( &amp;x )</a:t>
            </a:r>
            <a:endParaRPr lang="en-US" sz="4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Rectangle 4"/>
          <p:cNvSpPr/>
          <p:nvPr/>
        </p:nvSpPr>
        <p:spPr>
          <a:xfrm>
            <a:off x="685800" y="1438200"/>
            <a:ext cx="7772040" cy="5092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799"/>
              </a:spcBef>
              <a:buClr>
                <a:srgbClr val="ff0000"/>
              </a:buClr>
              <a:buFont typeface="Symbol" charset="2"/>
              <a:buChar char=""/>
              <a:tabLst>
                <a:tab algn="l" pos="0"/>
              </a:tabLst>
            </a:pP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x == 0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799"/>
              </a:spcBef>
              <a:buClr>
                <a:srgbClr val="ff0000"/>
              </a:buClr>
              <a:buFont typeface="Symbol" charset="2"/>
              <a:buChar char=""/>
              <a:tabLst>
                <a:tab algn="l" pos="0"/>
              </a:tabLst>
            </a:pP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x </a:t>
            </a: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Symbol"/>
              </a:rPr>
              <a:t></a:t>
            </a: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799"/>
              </a:spcBef>
              <a:buClr>
                <a:srgbClr val="ff0000"/>
              </a:buClr>
              <a:buFont typeface="Symbol" charset="2"/>
              <a:buChar char=""/>
              <a:tabLst>
                <a:tab algn="l" pos="0"/>
              </a:tabLst>
            </a:pP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y </a:t>
            </a: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Symbol"/>
              </a:rPr>
              <a:t></a:t>
            </a:r>
            <a:r>
              <a:rPr lang="nl-NL" sz="4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799"/>
              </a:spcBef>
              <a:buClr>
                <a:srgbClr val="3333cc"/>
              </a:buClr>
              <a:buFont typeface="Symbol" charset="2"/>
              <a:buChar char=""/>
              <a:tabLst>
                <a:tab algn="l" pos="0"/>
              </a:tabLst>
            </a:pP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x != 0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799"/>
              </a:spcBef>
              <a:buClr>
                <a:srgbClr val="3333cc"/>
              </a:buClr>
              <a:buFont typeface="Symbol" charset="2"/>
              <a:buChar char=""/>
              <a:tabLst>
                <a:tab algn="l" pos="0"/>
              </a:tabLst>
            </a:pP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x </a:t>
            </a: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Symbol"/>
              </a:rPr>
              <a:t></a:t>
            </a: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799"/>
              </a:spcBef>
              <a:buClr>
                <a:srgbClr val="3333cc"/>
              </a:buClr>
              <a:buFont typeface="Symbol" charset="2"/>
              <a:buChar char=""/>
              <a:tabLst>
                <a:tab algn="l" pos="0"/>
              </a:tabLst>
            </a:pP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y </a:t>
            </a: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Symbol"/>
              </a:rPr>
              <a:t></a:t>
            </a:r>
            <a:r>
              <a:rPr lang="nl-NL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0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testset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2918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2918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testset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2918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testset(&amp;beurt)==0){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2918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testset(&amp;beurt)==0){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sleep(random());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beurt=0;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8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exchange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exchange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(vlag[0]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while (vlag[1]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exchange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beurt=0;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3809520" cy="4064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hardwarebenadering: </a:t>
            </a: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exchange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beurt=0;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vlag[0]=1;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(vlag[0]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exchange(vlag+0,&amp;beurt);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exchange(vlag+0,&amp;beurt);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vlag[1]=1;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while (vlag[1] == 1){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sleep(random());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exchange(vlag+1,&amp;beurt);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exchange(vlag+1,&amp;beurt);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16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85800" y="871560"/>
            <a:ext cx="7772040" cy="575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alternatieve oplossingen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softwarebenaderingen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 2 processen: algoritmen van Dekker,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processen: algoritmen van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                               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Eisenberg &amp; McGuire, Lamport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hardwarebenaderingen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uitschakelen interupts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testset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en </a:t>
            </a:r>
            <a:r>
              <a:rPr lang="nl-NL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exchange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instructies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59"/>
              </a:spcBef>
              <a:buClr>
                <a:srgbClr val="000000"/>
              </a:buClr>
              <a:buFont typeface="Wingdings" charset="2"/>
              <a:buChar char=""/>
              <a:tabLst>
                <a:tab algn="l" pos="0"/>
              </a:tabLst>
            </a:pPr>
            <a:r>
              <a:rPr lang="nl-N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programma’s verantwoordelijk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59"/>
              </a:spcBef>
              <a:buClr>
                <a:srgbClr val="000000"/>
              </a:buClr>
              <a:buFont typeface="Wingdings" charset="2"/>
              <a:buChar char=""/>
              <a:tabLst>
                <a:tab algn="l" pos="0"/>
              </a:tabLst>
            </a:pPr>
            <a:r>
              <a:rPr lang="nl-N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actief wachten noodzakelijk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59"/>
              </a:spcBef>
              <a:buClr>
                <a:srgbClr val="000000"/>
              </a:buClr>
              <a:buFont typeface="Wingdings" charset="2"/>
              <a:buChar char=""/>
              <a:tabLst>
                <a:tab algn="l" pos="0"/>
              </a:tabLst>
            </a:pPr>
            <a:r>
              <a:rPr lang="nl-N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uithongering mogelijk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59"/>
              </a:spcBef>
              <a:buClr>
                <a:srgbClr val="000000"/>
              </a:buClr>
              <a:buFont typeface="Wingdings" charset="2"/>
              <a:buChar char=""/>
              <a:tabLst>
                <a:tab algn="l" pos="0"/>
              </a:tabLst>
            </a:pPr>
            <a:r>
              <a:rPr lang="nl-N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deadlock mogelijk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685800" y="871560"/>
            <a:ext cx="7772040" cy="5532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alternatieve oplossingen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softwarebenaderingen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 2 processen: algoritmen van Dekker,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voor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processen: algoritmen van Peterson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                               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Eisenberg &amp; McGuire, Lamport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hardwarebenaderingen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uitschakelen interupts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testset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en 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exchange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instructies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primitieven in het operating systeem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ff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signalen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semaforen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signalen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7772040" cy="405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reeds beschikbare basisprimitieven: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slaap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wek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proces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Times New Roman"/>
              <a:buChar char="¿"/>
            </a:pP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voldoende om wederzijdse uitsluiting en synchronisatieproblemen aan te pakken ?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BE" sz="32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probleem </a:t>
            </a:r>
            <a:r>
              <a:rPr lang="nl-BE" sz="32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eindige buffer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9" dur="indefinite" restart="never" nodeType="tmRoot">
          <p:childTnLst>
            <p:seq>
              <p:cTn id="230" dur="indefinite" nodeType="mainSeq">
                <p:childTnLst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probleem eindige buffer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39" name="Picture 15"/>
          <p:cNvPicPr/>
          <p:nvPr/>
        </p:nvPicPr>
        <p:blipFill>
          <a:blip r:embed="rId1"/>
          <a:stretch/>
        </p:blipFill>
        <p:spPr>
          <a:xfrm>
            <a:off x="803160" y="1273320"/>
            <a:ext cx="7538760" cy="239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" name="Picture 16"/>
          <p:cNvPicPr/>
          <p:nvPr/>
        </p:nvPicPr>
        <p:blipFill>
          <a:blip r:embed="rId2"/>
          <a:stretch/>
        </p:blipFill>
        <p:spPr>
          <a:xfrm>
            <a:off x="803160" y="1279440"/>
            <a:ext cx="7538760" cy="535572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5" dur="indefinite" restart="never" nodeType="tmRoot">
          <p:childTnLst>
            <p:seq>
              <p:cTn id="246" dur="indefinite" nodeType="mainSeq">
                <p:childTnLst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probleem eindige buffer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42" name="Picture 14"/>
          <p:cNvPicPr/>
          <p:nvPr/>
        </p:nvPicPr>
        <p:blipFill>
          <a:blip r:embed="rId1"/>
          <a:stretch/>
        </p:blipFill>
        <p:spPr>
          <a:xfrm>
            <a:off x="287280" y="1108080"/>
            <a:ext cx="8569080" cy="54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3" name="Picture 15"/>
          <p:cNvPicPr/>
          <p:nvPr/>
        </p:nvPicPr>
        <p:blipFill>
          <a:blip r:embed="rId2"/>
          <a:stretch/>
        </p:blipFill>
        <p:spPr>
          <a:xfrm>
            <a:off x="287280" y="1108080"/>
            <a:ext cx="8569080" cy="54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4" name="Picture 16"/>
          <p:cNvPicPr/>
          <p:nvPr/>
        </p:nvPicPr>
        <p:blipFill>
          <a:blip r:embed="rId3"/>
          <a:stretch/>
        </p:blipFill>
        <p:spPr>
          <a:xfrm>
            <a:off x="287280" y="1108080"/>
            <a:ext cx="8569080" cy="544320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signalen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aantal++;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aantal--;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signalen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if (aantal==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slaap();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aantal++;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aantal--;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if(aantal+1==N)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wek(producent);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signalen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if (aantal==N)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slaap();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aantal++;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if (aantal==1)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wek(consument);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if (aantal==0)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slaap();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aantal--;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if(aantal+1==N)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wek(producent);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Line 8"/>
          <p:cNvSpPr/>
          <p:nvPr/>
        </p:nvSpPr>
        <p:spPr>
          <a:xfrm>
            <a:off x="4876560" y="293508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Line 10"/>
          <p:cNvSpPr/>
          <p:nvPr/>
        </p:nvSpPr>
        <p:spPr>
          <a:xfrm>
            <a:off x="1066680" y="2590560"/>
            <a:ext cx="360" cy="289584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Line 11"/>
          <p:cNvSpPr/>
          <p:nvPr/>
        </p:nvSpPr>
        <p:spPr>
          <a:xfrm>
            <a:off x="685800" y="3298680"/>
            <a:ext cx="32763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1" dur="indefinite" restart="never" nodeType="tmRoot">
          <p:childTnLst>
            <p:seq>
              <p:cTn id="262" dur="indefinite" nodeType="mainSeq">
                <p:childTnLst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Picture 4"/>
          <p:cNvPicPr/>
          <p:nvPr/>
        </p:nvPicPr>
        <p:blipFill>
          <a:blip r:embed="rId1"/>
          <a:stretch/>
        </p:blipFill>
        <p:spPr>
          <a:xfrm>
            <a:off x="5203800" y="3459240"/>
            <a:ext cx="3838320" cy="3360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signalen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5283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reeds beschikbare basisprimitieven: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slaap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wek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proces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BE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inadequaat voor synchronisatieproblemen !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UNIX en NT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pause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kill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proces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,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signaalcode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BE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signal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signaalcode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,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handler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sigsuspend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(), </a:t>
            </a: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sigwait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5" dur="indefinite" restart="never" nodeType="tmRoot">
          <p:childTnLst>
            <p:seq>
              <p:cTn id="276" dur="indefinite" nodeType="mainSeq">
                <p:childTnLst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563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sequencer </a:t>
            </a:r>
            <a:r>
              <a:rPr lang="nl-NL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</a:t>
            </a:r>
            <a:r>
              <a:rPr lang="nl-NL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teller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(0, 1, 2, …)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eventteller </a:t>
            </a:r>
            <a:r>
              <a:rPr lang="nl-BE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E</a:t>
            </a: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</a:t>
            </a:r>
            <a:r>
              <a:rPr lang="nl-BE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teller + gesorteerde wachtrij</a:t>
            </a: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, met processen p</a:t>
            </a:r>
            <a:r>
              <a:rPr lang="nl-BE" sz="3600" b="0" i="1" u="none" strike="noStrike" baseline="-25000">
                <a:solidFill>
                  <a:schemeClr val="accent2"/>
                </a:solidFill>
                <a:effectLst/>
                <a:uFillTx/>
                <a:latin typeface="Times New Roman"/>
              </a:rPr>
              <a:t>i</a:t>
            </a: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waarvoor E &lt; drempel</a:t>
            </a:r>
            <a:r>
              <a:rPr lang="nl-BE" sz="3600" b="0" i="1" u="none" strike="noStrike" baseline="-25000">
                <a:solidFill>
                  <a:schemeClr val="accent2"/>
                </a:solidFill>
                <a:effectLst/>
                <a:uFillTx/>
                <a:latin typeface="Times New Roman"/>
              </a:rPr>
              <a:t>i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noodzakelijke </a:t>
            </a:r>
            <a:r>
              <a:rPr lang="nl-NL" sz="36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atomaire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basisprimitieven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rc = </a:t>
            </a: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ticket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: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rc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instellen op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 , S</a:t>
            </a: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++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await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,</a:t>
            </a:r>
            <a:r>
              <a:rPr lang="nl-NL" sz="2800" b="0" u="none" strike="noStrike">
                <a:solidFill>
                  <a:srgbClr val="cc00ff"/>
                </a:solidFill>
                <a:effectLst/>
                <a:uFillTx/>
                <a:latin typeface="Arial Narrow"/>
              </a:rPr>
              <a:t>drempel</a:t>
            </a:r>
            <a:r>
              <a:rPr lang="nl-NL" sz="2800" b="0" i="1" u="none" strike="noStrike" baseline="-25000">
                <a:solidFill>
                  <a:srgbClr val="cc00ff"/>
                </a:solidFill>
                <a:effectLst/>
                <a:uFillTx/>
                <a:latin typeface="Arial Narrow"/>
              </a:rPr>
              <a:t>i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: plaatst p</a:t>
            </a:r>
            <a:r>
              <a:rPr lang="nl-NL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i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geblokkeerd in wachtrij</a:t>
            </a:r>
            <a:r>
              <a:rPr lang="nl-NL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indien E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&lt;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drempel</a:t>
            </a:r>
            <a:r>
              <a:rPr lang="nl-NL" sz="2800" b="0" i="1" u="none" strike="noStrike" baseline="-25000">
                <a:solidFill>
                  <a:schemeClr val="accent1"/>
                </a:solidFill>
                <a:effectLst/>
                <a:uFillTx/>
                <a:latin typeface="Arial Narrow"/>
              </a:rPr>
              <a:t>i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rc = </a:t>
            </a: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advance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: </a:t>
            </a: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++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 , 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alle p</a:t>
            </a:r>
            <a:r>
              <a:rPr lang="nl-NL" sz="3200" b="0" u="none" strike="noStrike" baseline="-25000">
                <a:solidFill>
                  <a:srgbClr val="cc00ff"/>
                </a:solidFill>
                <a:effectLst/>
                <a:uFillTx/>
                <a:latin typeface="Times New Roman"/>
              </a:rPr>
              <a:t>i</a:t>
            </a:r>
            <a:r>
              <a:rPr lang="nl-NL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uit wachtrij</a:t>
            </a:r>
            <a:r>
              <a:rPr lang="nl-NL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waarvoor E ≥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drempel</a:t>
            </a:r>
            <a:r>
              <a:rPr lang="nl-NL" sz="2800" b="0" i="1" u="none" strike="noStrike" baseline="-25000">
                <a:solidFill>
                  <a:schemeClr val="accent1"/>
                </a:solidFill>
                <a:effectLst/>
                <a:uFillTx/>
                <a:latin typeface="Arial Narrow"/>
              </a:rPr>
              <a:t>i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,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rc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instellen op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NL" sz="2800" b="0" u="none" strike="noStrike">
                <a:solidFill>
                  <a:schemeClr val="hlink"/>
                </a:solidFill>
                <a:effectLst/>
                <a:uFillTx/>
                <a:latin typeface="Arial Narrow"/>
              </a:rPr>
              <a:t>rc =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read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chemeClr val="hlink"/>
                </a:solidFill>
                <a:effectLst/>
                <a:uFillTx/>
                <a:latin typeface="Times New Roman"/>
              </a:rPr>
              <a:t>: </a:t>
            </a:r>
            <a:r>
              <a:rPr lang="nl-NL" sz="2800" b="0" u="none" strike="noStrike">
                <a:solidFill>
                  <a:schemeClr val="hlink"/>
                </a:solidFill>
                <a:effectLst/>
                <a:uFillTx/>
                <a:latin typeface="Arial Narrow"/>
              </a:rPr>
              <a:t>rc </a:t>
            </a:r>
            <a:r>
              <a:rPr lang="nl-NL" sz="3200" b="0" u="none" strike="noStrike">
                <a:solidFill>
                  <a:schemeClr val="hlink"/>
                </a:solidFill>
                <a:effectLst/>
                <a:uFillTx/>
                <a:latin typeface="Times New Roman"/>
              </a:rPr>
              <a:t>instellen op</a:t>
            </a:r>
            <a:r>
              <a:rPr lang="nl-NL" sz="2800" b="0" u="none" strike="noStrike">
                <a:solidFill>
                  <a:schemeClr val="hlink"/>
                </a:solidFill>
                <a:effectLst/>
                <a:uFillTx/>
                <a:latin typeface="Arial Narrow"/>
              </a:rPr>
              <a:t> </a:t>
            </a:r>
            <a:r>
              <a:rPr lang="nl-NL" sz="3200" b="0" u="none" strike="noStrike">
                <a:solidFill>
                  <a:schemeClr val="hlink"/>
                </a:solidFill>
                <a:effectLst/>
                <a:uFillTx/>
                <a:latin typeface="Times New Roman"/>
              </a:rPr>
              <a:t>E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235720" cy="5177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wederzijdse uitsluiting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????????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wachtrij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269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while(1) {                  // proces i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 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????????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}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235720" cy="5177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wederzijdse uitsluiting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VOLTOOID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wachtrij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sequencer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AANVRAGEN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volgorde in wachtrij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AANVRAGEN</a:t>
            </a:r>
            <a:r>
              <a:rPr lang="nl-BE" sz="24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-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VOLTOOID</a:t>
            </a:r>
            <a:r>
              <a:rPr lang="nl-BE" sz="24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-</a:t>
            </a:r>
            <a:r>
              <a:rPr lang="nl-BE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1</a:t>
            </a:r>
            <a:r>
              <a:rPr lang="nl-BE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: aantal p</a:t>
            </a:r>
            <a:r>
              <a:rPr lang="nl-BE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i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in wachtrij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269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while(1) {                  // proces i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VOLTOOID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 . . . . . . . . . 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VOLTOOID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nl-BE" sz="24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}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Rectangle 4"/>
          <p:cNvSpPr/>
          <p:nvPr/>
        </p:nvSpPr>
        <p:spPr>
          <a:xfrm>
            <a:off x="5072040" y="4121280"/>
            <a:ext cx="3323880" cy="4568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lang="nl-BE" sz="24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ticket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AANVRAGEN</a:t>
            </a:r>
            <a:r>
              <a:rPr lang="nl-BE" sz="2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9" dur="indefinite" restart="never" nodeType="tmRoot">
          <p:childTnLst>
            <p:seq>
              <p:cTn id="330" dur="indefinite" nodeType="mainSeq">
                <p:childTnLst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(1 producent / 1 consument)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??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Rectangle 5"/>
          <p:cNvSpPr/>
          <p:nvPr/>
        </p:nvSpPr>
        <p:spPr>
          <a:xfrm>
            <a:off x="101916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??=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??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6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5" dur="indefinite" restart="never" nodeType="tmRoot">
          <p:childTnLst>
            <p:seq>
              <p:cTn id="346" dur="indefinite" nodeType="mainSeq">
                <p:childTnLst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(1 producent / 1 consument)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geproduceerde items</a:t>
            </a:r>
            <a:endParaRPr lang="en-US" sz="3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geconsumeerde items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Rectangle 4"/>
          <p:cNvSpPr/>
          <p:nvPr/>
        </p:nvSpPr>
        <p:spPr>
          <a:xfrm>
            <a:off x="101916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“wacht tot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in-OUT &lt; N</a:t>
            </a: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5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3" dur="indefinite" restart="never" nodeType="tmRoot">
          <p:childTnLst>
            <p:seq>
              <p:cTn id="354" dur="indefinite" nodeType="mainSeq">
                <p:childTnLst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(1 producent / 1 consument)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geproduceerde items</a:t>
            </a:r>
            <a:endParaRPr lang="en-US" sz="3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geconsumeerde items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Rectangle 4"/>
          <p:cNvSpPr/>
          <p:nvPr/>
        </p:nvSpPr>
        <p:spPr>
          <a:xfrm>
            <a:off x="101916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“wacht tot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OUT &gt; in-N</a:t>
            </a: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5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(1 producent / 1 consument)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geproduceerde items</a:t>
            </a:r>
            <a:endParaRPr lang="en-US" sz="3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geconsumeerde items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Rectangle 4"/>
          <p:cNvSpPr/>
          <p:nvPr/>
        </p:nvSpPr>
        <p:spPr>
          <a:xfrm>
            <a:off x="1019160" y="2878200"/>
            <a:ext cx="39841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“wacht tot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OUT 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≥ in+1-N</a:t>
            </a:r>
            <a:r>
              <a:rPr lang="nl-BE" sz="2000" b="1" u="none" strike="noStrike">
                <a:solidFill>
                  <a:srgbClr val="ff00ff"/>
                </a:solidFill>
                <a:effectLst/>
                <a:uFillTx/>
                <a:latin typeface="Courier New"/>
              </a:rPr>
              <a:t>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5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(1 producent / 1 consument)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geproduceerde items</a:t>
            </a:r>
            <a:endParaRPr lang="en-US" sz="3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→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0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totaal # geconsumeerde items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Rectangle 4"/>
          <p:cNvSpPr/>
          <p:nvPr/>
        </p:nvSpPr>
        <p:spPr>
          <a:xfrm>
            <a:off x="101916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,in+1-N);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5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,out+1);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5" dur="indefinite" restart="never" nodeType="tmRoot">
          <p:childTnLst>
            <p:seq>
              <p:cTn id="366" dur="indefinite" nodeType="mainSeq">
                <p:childTnLst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sequencers en eventtellers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1671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willekeurig # producenten en consumenten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eventtellers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en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sequencers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PROD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Rectangle 4"/>
          <p:cNvSpPr/>
          <p:nvPr/>
        </p:nvSpPr>
        <p:spPr>
          <a:xfrm>
            <a:off x="101916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in=ticket(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PROD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,in);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,in+1-N);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b[in%N]=p;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5"/>
          <p:cNvSpPr/>
          <p:nvPr/>
        </p:nvSpPr>
        <p:spPr>
          <a:xfrm>
            <a:off x="4981680" y="2878200"/>
            <a:ext cx="3809520" cy="368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out=0;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out=ticket(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CONS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,out);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await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,out+1);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c=b[out%N];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out=</a:t>
            </a:r>
            <a:r>
              <a:rPr lang="nl-BE" sz="2000" b="1" u="none" strike="noStrike">
                <a:solidFill>
                  <a:srgbClr val="cc00ff"/>
                </a:solidFill>
                <a:effectLst/>
                <a:uFillTx/>
                <a:latin typeface="Courier New"/>
              </a:rPr>
              <a:t>advance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OUT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1" name="Group 8"/>
          <p:cNvGrpSpPr/>
          <p:nvPr/>
        </p:nvGrpSpPr>
        <p:grpSpPr>
          <a:xfrm>
            <a:off x="5580000" y="5527440"/>
            <a:ext cx="522000" cy="244440"/>
            <a:chOff x="5580000" y="5527440"/>
            <a:chExt cx="522000" cy="244440"/>
          </a:xfrm>
        </p:grpSpPr>
        <p:sp>
          <p:nvSpPr>
            <p:cNvPr id="492" name="Line 6"/>
            <p:cNvSpPr/>
            <p:nvPr/>
          </p:nvSpPr>
          <p:spPr>
            <a:xfrm flipV="1">
              <a:off x="5580000" y="5527440"/>
              <a:ext cx="52200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3" name="Line 7"/>
            <p:cNvSpPr/>
            <p:nvPr/>
          </p:nvSpPr>
          <p:spPr>
            <a:xfrm flipH="1" flipV="1">
              <a:off x="5580000" y="5527440"/>
              <a:ext cx="52200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94" name="Group 12"/>
          <p:cNvGrpSpPr/>
          <p:nvPr/>
        </p:nvGrpSpPr>
        <p:grpSpPr>
          <a:xfrm>
            <a:off x="1542960" y="5886360"/>
            <a:ext cx="522360" cy="244440"/>
            <a:chOff x="1542960" y="5886360"/>
            <a:chExt cx="522360" cy="244440"/>
          </a:xfrm>
        </p:grpSpPr>
        <p:sp>
          <p:nvSpPr>
            <p:cNvPr id="495" name="Line 13"/>
            <p:cNvSpPr/>
            <p:nvPr/>
          </p:nvSpPr>
          <p:spPr>
            <a:xfrm flipV="1">
              <a:off x="1542960" y="588636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6" name="Line 14"/>
            <p:cNvSpPr/>
            <p:nvPr/>
          </p:nvSpPr>
          <p:spPr>
            <a:xfrm flipH="1" flipV="1">
              <a:off x="1542960" y="588636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97" name="Rectangle 16"/>
          <p:cNvSpPr/>
          <p:nvPr/>
        </p:nvSpPr>
        <p:spPr>
          <a:xfrm>
            <a:off x="3754440" y="1625760"/>
            <a:ext cx="2088720" cy="12013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en </a:t>
            </a:r>
            <a:r>
              <a:rPr lang="nl-NL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CONS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8" name="Group 8"/>
          <p:cNvGrpSpPr/>
          <p:nvPr/>
        </p:nvGrpSpPr>
        <p:grpSpPr>
          <a:xfrm>
            <a:off x="1128600" y="3335040"/>
            <a:ext cx="522360" cy="244440"/>
            <a:chOff x="1128600" y="3335040"/>
            <a:chExt cx="522360" cy="244440"/>
          </a:xfrm>
        </p:grpSpPr>
        <p:sp>
          <p:nvSpPr>
            <p:cNvPr id="499" name="Line 6"/>
            <p:cNvSpPr/>
            <p:nvPr/>
          </p:nvSpPr>
          <p:spPr>
            <a:xfrm flipV="1">
              <a:off x="1128600" y="333504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0" name="Line 7"/>
            <p:cNvSpPr/>
            <p:nvPr/>
          </p:nvSpPr>
          <p:spPr>
            <a:xfrm flipH="1" flipV="1">
              <a:off x="1128600" y="333504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01" name="Group 8"/>
          <p:cNvGrpSpPr/>
          <p:nvPr/>
        </p:nvGrpSpPr>
        <p:grpSpPr>
          <a:xfrm>
            <a:off x="5162400" y="3335040"/>
            <a:ext cx="522360" cy="244440"/>
            <a:chOff x="5162400" y="3335040"/>
            <a:chExt cx="522360" cy="244440"/>
          </a:xfrm>
        </p:grpSpPr>
        <p:sp>
          <p:nvSpPr>
            <p:cNvPr id="502" name="Line 6"/>
            <p:cNvSpPr/>
            <p:nvPr/>
          </p:nvSpPr>
          <p:spPr>
            <a:xfrm flipV="1">
              <a:off x="5162400" y="333504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3" name="Line 7"/>
            <p:cNvSpPr/>
            <p:nvPr/>
          </p:nvSpPr>
          <p:spPr>
            <a:xfrm flipH="1" flipV="1">
              <a:off x="5162400" y="3335040"/>
              <a:ext cx="522360" cy="244440"/>
            </a:xfrm>
            <a:prstGeom prst="line">
              <a:avLst/>
            </a:prstGeom>
            <a:ln w="635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1" dur="indefinite" restart="never" nodeType="tmRoot">
          <p:childTnLst>
            <p:seq>
              <p:cTn id="372" dur="indefinite" nodeType="mainSeq">
                <p:childTnLst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685800" y="1065240"/>
            <a:ext cx="8457840" cy="5629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BE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geheel getal + niet-gesorteerde wachtrij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99"/>
              </a:buClr>
              <a:buFont typeface="Symbol" charset="2"/>
              <a:buChar char="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0: # weksignalen staan klaar voor verwerking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99"/>
              </a:buClr>
              <a:buFont typeface="Symbol" charset="2"/>
              <a:buChar char="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0: # processen geblokkeerd op semafoor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noodzakelijke </a:t>
            </a:r>
            <a:r>
              <a:rPr lang="nl-NL" sz="36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atomaire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basisprimitieven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neer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: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--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, blokkeert p</a:t>
            </a:r>
            <a:r>
              <a:rPr lang="nl-NL" sz="3200" b="0" u="none" strike="noStrike" baseline="-25000">
                <a:solidFill>
                  <a:schemeClr val="accent1"/>
                </a:solidFill>
                <a:effectLst/>
                <a:uFillTx/>
                <a:latin typeface="Times New Roman"/>
              </a:rPr>
              <a:t>i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in wachtrij indien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hierdoor negatief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cc00ff"/>
              </a:buClr>
              <a:buFont typeface="Symbol" charset="2"/>
              <a:buChar char=""/>
            </a:pPr>
            <a:r>
              <a:rPr lang="nl-NL" sz="3200" b="0" i="1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op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(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)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: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++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, verlost </a:t>
            </a:r>
            <a:r>
              <a:rPr lang="nl-NL" sz="32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één p</a:t>
            </a:r>
            <a:r>
              <a:rPr lang="nl-NL" sz="3200" b="0" u="none" strike="noStrike" baseline="-25000">
                <a:solidFill>
                  <a:srgbClr val="cc00ff"/>
                </a:solidFill>
                <a:effectLst/>
                <a:uFillTx/>
                <a:latin typeface="Times New Roman"/>
              </a:rPr>
              <a:t>i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uit wachtrij indien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Arial Narrow"/>
              </a:rPr>
              <a:t>semafoor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negatief was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281"/>
              </a:spcBef>
              <a:buClr>
                <a:srgbClr val="3333cc"/>
              </a:buClr>
              <a:buFont typeface="Times New Roman"/>
              <a:buChar char="¿"/>
            </a:pPr>
            <a:r>
              <a:rPr lang="nl-BE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welk </a:t>
            </a:r>
            <a:r>
              <a:rPr lang="nl-BE" sz="2800" b="0" u="none" strike="noStrike">
                <a:solidFill>
                  <a:srgbClr val="cc00ff"/>
                </a:solidFill>
                <a:effectLst/>
                <a:uFillTx/>
                <a:latin typeface="Times New Roman"/>
              </a:rPr>
              <a:t>proces p</a:t>
            </a:r>
            <a:r>
              <a:rPr lang="nl-BE" sz="2800" b="0" u="none" strike="noStrike" baseline="-25000">
                <a:solidFill>
                  <a:srgbClr val="cc00ff"/>
                </a:solidFill>
                <a:effectLst/>
                <a:uFillTx/>
                <a:latin typeface="Times New Roman"/>
              </a:rPr>
              <a:t>i</a:t>
            </a:r>
            <a:r>
              <a:rPr lang="nl-BE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: rekening houden met volgorde neer() operatie, prioriteiten, procestoestand, … ?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241"/>
              </a:spcBef>
              <a:buClr>
                <a:srgbClr val="ff0000"/>
              </a:buClr>
              <a:buFont typeface="Times New Roman"/>
              <a:buChar char="→"/>
            </a:pPr>
            <a:r>
              <a:rPr lang="nl-BE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problemen zoals </a:t>
            </a:r>
            <a:r>
              <a:rPr lang="nl-BE" sz="24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prioriteitsinversie</a:t>
            </a:r>
            <a:r>
              <a:rPr lang="nl-BE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, </a:t>
            </a:r>
            <a:r>
              <a:rPr lang="nl-BE" sz="24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thundering herd</a:t>
            </a:r>
            <a:r>
              <a:rPr lang="nl-BE" sz="24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, …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3" dur="indefinite" restart="never" nodeType="tmRoot">
          <p:childTnLst>
            <p:seq>
              <p:cTn id="394" dur="indefinite" nodeType="mainSeq">
                <p:childTnLst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4462200" cy="3227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typedef int semafoor;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int w_u=1;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4495320" cy="3227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kritieke_sectie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op(&amp;w_u);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niet_kritieke_sectie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Rectangle 6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wederzijdse uitsluiting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1" dur="indefinite" restart="never" nodeType="tmRoot">
          <p:childTnLst>
            <p:seq>
              <p:cTn id="422" dur="indefinite" nodeType="mainSeq">
                <p:childTnLst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Rectangle 5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wederzijdse uitsluiting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Picture 8"/>
          <p:cNvPicPr/>
          <p:nvPr/>
        </p:nvPicPr>
        <p:blipFill>
          <a:blip r:embed="rId1"/>
          <a:stretch/>
        </p:blipFill>
        <p:spPr>
          <a:xfrm>
            <a:off x="2425680" y="16984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" name="Picture 9"/>
          <p:cNvPicPr/>
          <p:nvPr/>
        </p:nvPicPr>
        <p:blipFill>
          <a:blip r:embed="rId2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4" name="Picture 10"/>
          <p:cNvPicPr/>
          <p:nvPr/>
        </p:nvPicPr>
        <p:blipFill>
          <a:blip r:embed="rId3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5" name="Picture 11"/>
          <p:cNvPicPr/>
          <p:nvPr/>
        </p:nvPicPr>
        <p:blipFill>
          <a:blip r:embed="rId4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6" name="Picture 12"/>
          <p:cNvPicPr/>
          <p:nvPr/>
        </p:nvPicPr>
        <p:blipFill>
          <a:blip r:embed="rId5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7" name="Picture 13"/>
          <p:cNvPicPr/>
          <p:nvPr/>
        </p:nvPicPr>
        <p:blipFill>
          <a:blip r:embed="rId6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8" name="Picture 14"/>
          <p:cNvPicPr/>
          <p:nvPr/>
        </p:nvPicPr>
        <p:blipFill>
          <a:blip r:embed="rId7"/>
          <a:stretch/>
        </p:blipFill>
        <p:spPr>
          <a:xfrm>
            <a:off x="2425680" y="1700280"/>
            <a:ext cx="4292280" cy="511308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7" dur="indefinite" restart="never" nodeType="tmRoot">
          <p:childTnLst>
            <p:seq>
              <p:cTn id="438" dur="indefinite" nodeType="mainSeq">
                <p:childTnLst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Rectangle 6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Picture 9"/>
          <p:cNvPicPr/>
          <p:nvPr/>
        </p:nvPicPr>
        <p:blipFill>
          <a:blip r:embed="rId1"/>
          <a:stretch/>
        </p:blipFill>
        <p:spPr>
          <a:xfrm>
            <a:off x="250920" y="2044800"/>
            <a:ext cx="4103280" cy="2774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" name="Picture 10"/>
          <p:cNvPicPr/>
          <p:nvPr/>
        </p:nvPicPr>
        <p:blipFill>
          <a:blip r:embed="rId2"/>
          <a:stretch/>
        </p:blipFill>
        <p:spPr>
          <a:xfrm>
            <a:off x="250920" y="2044800"/>
            <a:ext cx="4103280" cy="2774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" name="Picture 11"/>
          <p:cNvPicPr/>
          <p:nvPr/>
        </p:nvPicPr>
        <p:blipFill>
          <a:blip r:embed="rId3"/>
          <a:stretch/>
        </p:blipFill>
        <p:spPr>
          <a:xfrm>
            <a:off x="250920" y="2044800"/>
            <a:ext cx="4103280" cy="2774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" name="Picture 12"/>
          <p:cNvPicPr/>
          <p:nvPr/>
        </p:nvPicPr>
        <p:blipFill>
          <a:blip r:embed="rId4"/>
          <a:stretch/>
        </p:blipFill>
        <p:spPr>
          <a:xfrm>
            <a:off x="4932360" y="2044800"/>
            <a:ext cx="4103280" cy="2774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" name="Picture 13"/>
          <p:cNvPicPr/>
          <p:nvPr/>
        </p:nvPicPr>
        <p:blipFill>
          <a:blip r:embed="rId5"/>
          <a:stretch/>
        </p:blipFill>
        <p:spPr>
          <a:xfrm>
            <a:off x="4932360" y="2044800"/>
            <a:ext cx="4103280" cy="277452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3" dur="indefinite" restart="never" nodeType="tmRoot">
          <p:childTnLst>
            <p:seq>
              <p:cTn id="464" dur="indefinite" nodeType="mainSeq">
                <p:childTnLst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Rectangle 5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Rectangle 5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neer(&amp;leeg);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op(&amp;leeg);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Rectangle 5"/>
          <p:cNvSpPr/>
          <p:nvPr/>
        </p:nvSpPr>
        <p:spPr>
          <a:xfrm>
            <a:off x="685800" y="2158920"/>
            <a:ext cx="4244760" cy="761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6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1" dur="indefinite" restart="never" nodeType="tmRoot">
          <p:childTnLst>
            <p:seq>
              <p:cTn id="482" dur="indefinite" nodeType="mainSeq">
                <p:childTnLst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neer(&amp;leeg);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op(&amp;gevuld);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neer(&amp;gevuld);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op(&amp;leeg);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Rectangle 7"/>
          <p:cNvSpPr/>
          <p:nvPr/>
        </p:nvSpPr>
        <p:spPr>
          <a:xfrm>
            <a:off x="685800" y="2158920"/>
            <a:ext cx="4244760" cy="761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8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neer(&amp;w_u);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neer(&amp;leeg);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op(&amp;gevuld);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2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neer(&amp;gevuld);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op(&amp;w_u);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op(&amp;leeg);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Line 5"/>
          <p:cNvSpPr/>
          <p:nvPr/>
        </p:nvSpPr>
        <p:spPr>
          <a:xfrm>
            <a:off x="4876560" y="402264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Line 6"/>
          <p:cNvSpPr/>
          <p:nvPr/>
        </p:nvSpPr>
        <p:spPr>
          <a:xfrm>
            <a:off x="653760" y="438768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Rectangle 8"/>
          <p:cNvSpPr/>
          <p:nvPr/>
        </p:nvSpPr>
        <p:spPr>
          <a:xfrm>
            <a:off x="685800" y="2158920"/>
            <a:ext cx="4244760" cy="761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9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7" dur="indefinite" restart="never" nodeType="tmRoot">
          <p:childTnLst>
            <p:seq>
              <p:cTn id="488" dur="indefinite" nodeType="mainSeq">
                <p:childTnLst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685800" y="1798560"/>
            <a:ext cx="3809520" cy="4372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w_u_p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neer(&amp;leeg);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b[out++]=p;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out%=N;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w_u_p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op(&amp;gevuld);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/>
          </p:nvPr>
        </p:nvSpPr>
        <p:spPr>
          <a:xfrm>
            <a:off x="4648320" y="1798560"/>
            <a:ext cx="3809520" cy="4372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neer(&amp;gevuld);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neer(&amp;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w_u_c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c=b[in++];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in%=N;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w_u_c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op(&amp;leeg);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Rectangle 8"/>
          <p:cNvSpPr/>
          <p:nvPr/>
        </p:nvSpPr>
        <p:spPr>
          <a:xfrm>
            <a:off x="685800" y="2158920"/>
            <a:ext cx="4244760" cy="761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op(leeg);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9"/>
          <p:cNvSpPr/>
          <p:nvPr/>
        </p:nvSpPr>
        <p:spPr>
          <a:xfrm>
            <a:off x="685800" y="1095480"/>
            <a:ext cx="8235720" cy="64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implementatie synchronisatie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8457840" cy="542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tellende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semaforen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kunnen willekeurige waarde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Symbol"/>
              </a:rPr>
              <a:t>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0 aannemen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gebruikt voor synchronisatie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Linux: geïmplementeerd door </a:t>
            </a:r>
            <a:r>
              <a:rPr lang="nl-NL" sz="32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kernel semaphores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op() en neer(): </a:t>
            </a: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up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() en </a:t>
            </a: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down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() systeemaanroepen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Solaris: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sema_init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 en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sema_destroy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neer():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sema_wait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 en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sema_trylock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op():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sema_post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7" dur="indefinite" restart="never" nodeType="tmRoot">
          <p:childTnLst>
            <p:seq>
              <p:cTn id="498" dur="indefinite" nodeType="mainSeq">
                <p:childTnLst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semaforen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8457840" cy="5598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binaire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semaforen (</a:t>
            </a:r>
            <a:r>
              <a:rPr lang="nl-NL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mutexen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kunnen enkel 0 of 1 zijn (of negatief)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gebruikt voor wederzijdse uitsluiting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Linux: geïmplementeerd door </a:t>
            </a:r>
            <a:r>
              <a:rPr lang="nl-NL" sz="32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spin locks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spin_unlock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, </a:t>
            </a: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spin_lock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en </a:t>
            </a: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spin_trylock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macro’s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Solaris: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mutex_init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 en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mutex_destroy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neer():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mutex_wait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 en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mutex_trylock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op(): </a:t>
            </a:r>
            <a:r>
              <a:rPr lang="nl-NL" sz="28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mutex_post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5" dur="indefinite" restart="never" nodeType="tmRoot">
          <p:childTnLst>
            <p:seq>
              <p:cTn id="516" dur="indefinite" nodeType="mainSeq">
                <p:childTnLst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klassieke IPC problemen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8457840" cy="550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slapende kapper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model voor een server proces dat een beperkt aantal cliënts kan ondersteunen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lezers &amp; schrijvers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model voor toegang tot databanken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dining philosophers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model voor verschillende processen die exclusieve toegang wensen tot een resource waarvan er slechts een beperkt aantal beschikbaar is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3" dur="indefinite" restart="never" nodeType="tmRoot">
          <p:childTnLst>
            <p:seq>
              <p:cTn id="534" dur="indefinite" nodeType="mainSeq">
                <p:childTnLst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slapende kapper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564" name="Picture 39"/>
          <p:cNvPicPr/>
          <p:nvPr/>
        </p:nvPicPr>
        <p:blipFill>
          <a:blip r:embed="rId1"/>
          <a:stretch/>
        </p:blipFill>
        <p:spPr>
          <a:xfrm>
            <a:off x="1163520" y="912960"/>
            <a:ext cx="6819480" cy="571608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/>
          </p:nvPr>
        </p:nvSpPr>
        <p:spPr>
          <a:xfrm>
            <a:off x="914400" y="152280"/>
            <a:ext cx="3580920" cy="594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knippen(void);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kapper(void){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knippen();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4724280" y="152280"/>
            <a:ext cx="3733560" cy="6324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geknipt(void);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klant(void){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geknipt();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/>
          </p:nvPr>
        </p:nvSpPr>
        <p:spPr>
          <a:xfrm>
            <a:off x="914400" y="152280"/>
            <a:ext cx="3580920" cy="594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#define STOELEN 8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int aantal=0;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knippen(void);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kapper(void){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aantal--;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knippen();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4724280" y="152280"/>
            <a:ext cx="3733560" cy="6324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geknipt(void);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klant(void){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if (aantal&lt;STOELEN)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aantal++;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geknipt();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/>
          </p:nvPr>
        </p:nvSpPr>
        <p:spPr>
          <a:xfrm>
            <a:off x="914400" y="152280"/>
            <a:ext cx="3580920" cy="594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STOELEN 8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typedef int semafoor;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aantal=0;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klanten=0;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void neer(semafoor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void   op(semafoor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knippen(void);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kapper(void){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aantal--;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knippen();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4724280" y="152280"/>
            <a:ext cx="3733560" cy="6324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geknipt(void);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klant(void){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 (aantal&lt;STOELEN)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aantal++;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op(&amp;klanten);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geknipt();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/>
          </p:nvPr>
        </p:nvSpPr>
        <p:spPr>
          <a:xfrm>
            <a:off x="914400" y="152280"/>
            <a:ext cx="3580920" cy="594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STOELEN 8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typedef int semafoor;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aantal=0;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klanten=0;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kappers=0;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neer(semafoor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 op(semafoor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knippen(void);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kapper(void){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aantal--;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op(&amp;kappers);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knippen();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/>
          </p:nvPr>
        </p:nvSpPr>
        <p:spPr>
          <a:xfrm>
            <a:off x="4724280" y="152280"/>
            <a:ext cx="3733560" cy="6324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geknipt(void);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klant(void){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 (aantal&lt;STOELEN)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aantal++;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op(&amp;klanten);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neer(&amp;kappers);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geknipt();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/>
          </p:nvPr>
        </p:nvSpPr>
        <p:spPr>
          <a:xfrm>
            <a:off x="914400" y="152280"/>
            <a:ext cx="3580920" cy="5943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STOELEN 8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typedef int semafoor;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aantal=0;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w_u=1;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klanten=0;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kappers=0;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neer(semafoor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 op(semafoor *);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knippen(void);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kapper(void){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neer(&amp;w_u);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aantal--;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op(&amp;kappers);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op(&amp;w_u);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knippen();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4724280" y="152280"/>
            <a:ext cx="3733560" cy="6324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geknipt(void);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klant(void){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neer(&amp;w_u);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 (aantal&lt;STOELEN)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aantal++;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op(&amp;klanten);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op(&amp;w_u);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neer(&amp;kappers);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geknipt();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else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{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op(&amp;w_u);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dining philosophers probleem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77" name="Object 4"/>
          <p:cNvGraphicFramePr/>
          <p:nvPr/>
        </p:nvGraphicFramePr>
        <p:xfrm>
          <a:off x="1971720" y="895320"/>
          <a:ext cx="5196960" cy="5065200"/>
        </p:xfrm>
        <a:graphic>
          <a:graphicData uri="http://schemas.openxmlformats.org/presentationml/2006/ole">
            <p:oleObj progId="Word.Picture.8" r:id="rId1" spid="">
              <p:embed/>
              <p:pic>
                <p:nvPicPr>
                  <p:cNvPr id="578" name="Object 4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71720" y="895320"/>
                    <a:ext cx="5196960" cy="5065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79" name="Oval 5"/>
          <p:cNvSpPr/>
          <p:nvPr/>
        </p:nvSpPr>
        <p:spPr>
          <a:xfrm>
            <a:off x="2909880" y="1584360"/>
            <a:ext cx="3271320" cy="327132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Oval 6"/>
          <p:cNvSpPr/>
          <p:nvPr/>
        </p:nvSpPr>
        <p:spPr>
          <a:xfrm>
            <a:off x="3600360" y="197640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Oval 7"/>
          <p:cNvSpPr/>
          <p:nvPr/>
        </p:nvSpPr>
        <p:spPr>
          <a:xfrm>
            <a:off x="4334040" y="429408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Oval 8"/>
          <p:cNvSpPr/>
          <p:nvPr/>
        </p:nvSpPr>
        <p:spPr>
          <a:xfrm>
            <a:off x="3119400" y="339876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Oval 9"/>
          <p:cNvSpPr/>
          <p:nvPr/>
        </p:nvSpPr>
        <p:spPr>
          <a:xfrm>
            <a:off x="5546880" y="343836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Oval 10"/>
          <p:cNvSpPr/>
          <p:nvPr/>
        </p:nvSpPr>
        <p:spPr>
          <a:xfrm>
            <a:off x="5100480" y="198612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/>
          </p:nvPr>
        </p:nvSpPr>
        <p:spPr>
          <a:xfrm>
            <a:off x="914400" y="380880"/>
            <a:ext cx="3580920" cy="5714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N 5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LINKS  (i-1)%N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RECHTS (i+1)%N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#define DENKT  0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#define HONGER 1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#define EET    2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int toestand[N];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denk(void);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eet(void);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test(int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toestand[i]     ==HONGER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&amp;&amp;</a:t>
            </a: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toestand[LINKS] !=EET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toestand[RECHTS]!=EET){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toestand[i]=EET;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4876920" y="380880"/>
            <a:ext cx="3580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neem_vorken(int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toestand[i]=HONGER;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vorken_neer(int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toestand[i]=DENKT;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filosoof(int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 (1) 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denk();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neem_vorken(i);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eet();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vorken_neer(i);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/>
          </p:nvPr>
        </p:nvSpPr>
        <p:spPr>
          <a:xfrm>
            <a:off x="914400" y="380880"/>
            <a:ext cx="3580920" cy="5714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N 5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LINKS  (i-1)%N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RECHTS (i+1)%N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DENKT  0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HONGER 1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EET    2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typedef int semafoor;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toestand[N];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w_u=1;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void neer(semafoor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void   op(semafoor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denk(void);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eet(void);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test(int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toestand[i]     ==HONGER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&amp;&amp;</a:t>
            </a: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toestand[LINKS] !=EET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toestand[RECHTS]!=EET){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toestand[i]=EET;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4876920" y="380880"/>
            <a:ext cx="39938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neem_vorken(int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toestand[i]=HONGER;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vorken_neer(int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toestand[i]=DENKT;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filosoof(int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 (1) 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denk();        </a:t>
            </a: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neer(&amp;w_u);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neem_vorken(i);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eet();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vorken_neer(i);</a:t>
            </a: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op(&amp;w_u);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/>
          </p:nvPr>
        </p:nvSpPr>
        <p:spPr>
          <a:xfrm>
            <a:off x="914400" y="380880"/>
            <a:ext cx="3580920" cy="5714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N 5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LINKS  (i-1)%N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RECHTS (i+1)%N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DENKT  0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HONGER 1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EET    2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typedef int semafoor;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toestand[N];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vlag[N];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neer(semafoor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 op(semafoor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denk(void);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eet(void);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test(int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toestand[i]     ==HONGER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&amp;&amp;</a:t>
            </a: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toestand[LINKS] !=EET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toestand[RECHTS]!=EET){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toestand[i]=EET;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4876920" y="380880"/>
            <a:ext cx="3580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neem_vorken(int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toestand[i]=HONGER;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vorken_neer(int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toestand[i]=DENKT;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filosoof(int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 (1) 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denk();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neem_vorken(i);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eet();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vorken_neer(i);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/>
          </p:nvPr>
        </p:nvSpPr>
        <p:spPr>
          <a:xfrm>
            <a:off x="914400" y="380880"/>
            <a:ext cx="3580920" cy="5714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N 5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LINKS  (i-1)%N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RECHTS (i+1)%N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DENKT  0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HONGER 1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EET    2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typedef int semafoor;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toestand[N];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vlag[N];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neer(semafoor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 op(semafoor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denk(void);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eet(void);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test(int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 </a:t>
            </a: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toestand[i]     ==HONGER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&amp;&amp;</a:t>
            </a: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toestand[LINKS] !=EET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toestand[RECHTS]!=EET){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toestand[i]=EET;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4876920" y="380880"/>
            <a:ext cx="3580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neem_vorken(int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toestand[i]=HONGER;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vorken_neer(int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toestand[i]=DENKT;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test(LINKS);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test(RECHTS);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filosoof(int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 (1) 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denk();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neem_vorken(i);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eet();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vorken_neer(i);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/>
          </p:nvPr>
        </p:nvSpPr>
        <p:spPr>
          <a:xfrm>
            <a:off x="914400" y="380880"/>
            <a:ext cx="3580920" cy="5714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N 5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LINKS  (i-1)%N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RECHTS (i+1)%N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DENKT  0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HONGER 1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#define EET    2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typedef int semafoor;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toestand[N];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w_u=1;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vlag[N];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neer(semafoor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 op(semafoor *);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denk(void);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 eet(void);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indent="-22860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test(int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 toestand[i]     ==HONGER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toestand[LINKS] !=EET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&amp;&amp; toestand[RECHTS]!=EET){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toestand[i]=EET;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876920" y="380880"/>
            <a:ext cx="3580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neem_vorken(int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toestand[i]=HONGER;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neer(&amp;vlag[i]);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vorken_neer(int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toestand[i]=DENKT;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test(LINKS);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test(RECHTS);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op(&amp;w_u);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filosoof(int i){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 (1) {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denk();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neem_vorken(i);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eet();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vorken_neer(i);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Picture 5"/>
          <p:cNvPicPr/>
          <p:nvPr/>
        </p:nvPicPr>
        <p:blipFill>
          <a:blip r:embed="rId1"/>
          <a:stretch/>
        </p:blipFill>
        <p:spPr>
          <a:xfrm>
            <a:off x="254160" y="1143000"/>
            <a:ext cx="4314600" cy="24904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96" name="Picture 40"/>
          <p:cNvPicPr/>
          <p:nvPr/>
        </p:nvPicPr>
        <p:blipFill>
          <a:blip r:embed="rId2"/>
          <a:srcRect l="41388" t="0" r="0" b="0"/>
          <a:stretch/>
        </p:blipFill>
        <p:spPr>
          <a:xfrm>
            <a:off x="2039760" y="1143000"/>
            <a:ext cx="2528640" cy="24904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lezers &amp; schrijvers probleem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685800" y="3733920"/>
            <a:ext cx="8457840" cy="243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lang="nl-NL" sz="36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Linux implementatie:</a:t>
            </a:r>
            <a:r>
              <a:rPr lang="nl-NL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nl-NL" sz="36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read/write</a:t>
            </a:r>
            <a:r>
              <a:rPr lang="nl-NL" sz="36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nl-NL" sz="36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spin locks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read_lock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macro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blokkeert enkel indien de bron gelocked is in write mode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nl-NL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write_lock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macro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blokkeert zolang er leesprocessen of een schrijfproces zijn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Oval 7"/>
          <p:cNvSpPr/>
          <p:nvPr/>
        </p:nvSpPr>
        <p:spPr>
          <a:xfrm>
            <a:off x="235080" y="237960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Oval 8"/>
          <p:cNvSpPr/>
          <p:nvPr/>
        </p:nvSpPr>
        <p:spPr>
          <a:xfrm>
            <a:off x="344520" y="247968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Oval 9"/>
          <p:cNvSpPr/>
          <p:nvPr/>
        </p:nvSpPr>
        <p:spPr>
          <a:xfrm>
            <a:off x="436680" y="258120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Oval 10"/>
          <p:cNvSpPr/>
          <p:nvPr/>
        </p:nvSpPr>
        <p:spPr>
          <a:xfrm>
            <a:off x="515880" y="267012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Oval 11"/>
          <p:cNvSpPr/>
          <p:nvPr/>
        </p:nvSpPr>
        <p:spPr>
          <a:xfrm>
            <a:off x="627120" y="277020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Oval 12"/>
          <p:cNvSpPr/>
          <p:nvPr/>
        </p:nvSpPr>
        <p:spPr>
          <a:xfrm>
            <a:off x="758880" y="287172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Oval 13"/>
          <p:cNvSpPr/>
          <p:nvPr/>
        </p:nvSpPr>
        <p:spPr>
          <a:xfrm>
            <a:off x="858960" y="298296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Oval 14"/>
          <p:cNvSpPr/>
          <p:nvPr/>
        </p:nvSpPr>
        <p:spPr>
          <a:xfrm>
            <a:off x="939960" y="3062160"/>
            <a:ext cx="952200" cy="31068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Oval 24"/>
          <p:cNvSpPr/>
          <p:nvPr/>
        </p:nvSpPr>
        <p:spPr>
          <a:xfrm>
            <a:off x="2938320" y="116064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Oval 25"/>
          <p:cNvSpPr/>
          <p:nvPr/>
        </p:nvSpPr>
        <p:spPr>
          <a:xfrm>
            <a:off x="3030480" y="126216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Oval 26"/>
          <p:cNvSpPr/>
          <p:nvPr/>
        </p:nvSpPr>
        <p:spPr>
          <a:xfrm>
            <a:off x="3121200" y="135108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Oval 27"/>
          <p:cNvSpPr/>
          <p:nvPr/>
        </p:nvSpPr>
        <p:spPr>
          <a:xfrm>
            <a:off x="3220920" y="145080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Oval 28"/>
          <p:cNvSpPr/>
          <p:nvPr/>
        </p:nvSpPr>
        <p:spPr>
          <a:xfrm>
            <a:off x="3330720" y="155268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Oval 29"/>
          <p:cNvSpPr/>
          <p:nvPr/>
        </p:nvSpPr>
        <p:spPr>
          <a:xfrm>
            <a:off x="3452760" y="166356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Oval 30"/>
          <p:cNvSpPr/>
          <p:nvPr/>
        </p:nvSpPr>
        <p:spPr>
          <a:xfrm>
            <a:off x="3533760" y="1754280"/>
            <a:ext cx="952200" cy="3106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14" name="Group 42"/>
          <p:cNvGrpSpPr/>
          <p:nvPr/>
        </p:nvGrpSpPr>
        <p:grpSpPr>
          <a:xfrm>
            <a:off x="4568760" y="1143000"/>
            <a:ext cx="4319280" cy="2471400"/>
            <a:chOff x="4568760" y="1143000"/>
            <a:chExt cx="4319280" cy="2471400"/>
          </a:xfrm>
        </p:grpSpPr>
        <p:pic>
          <p:nvPicPr>
            <p:cNvPr id="615" name="Picture 6"/>
            <p:cNvPicPr/>
            <p:nvPr/>
          </p:nvPicPr>
          <p:blipFill>
            <a:blip r:embed="rId3"/>
            <a:stretch/>
          </p:blipFill>
          <p:spPr>
            <a:xfrm>
              <a:off x="4568760" y="1143000"/>
              <a:ext cx="4319280" cy="24714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616" name="Oval 15"/>
            <p:cNvSpPr/>
            <p:nvPr/>
          </p:nvSpPr>
          <p:spPr>
            <a:xfrm>
              <a:off x="4572000" y="114624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7" name="Oval 16"/>
            <p:cNvSpPr/>
            <p:nvPr/>
          </p:nvSpPr>
          <p:spPr>
            <a:xfrm>
              <a:off x="4681440" y="124632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8" name="Oval 17"/>
            <p:cNvSpPr/>
            <p:nvPr/>
          </p:nvSpPr>
          <p:spPr>
            <a:xfrm>
              <a:off x="4773600" y="134784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9" name="Oval 18"/>
            <p:cNvSpPr/>
            <p:nvPr/>
          </p:nvSpPr>
          <p:spPr>
            <a:xfrm>
              <a:off x="4853160" y="143676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0" name="Oval 19"/>
            <p:cNvSpPr/>
            <p:nvPr/>
          </p:nvSpPr>
          <p:spPr>
            <a:xfrm>
              <a:off x="4964040" y="153684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Oval 20"/>
            <p:cNvSpPr/>
            <p:nvPr/>
          </p:nvSpPr>
          <p:spPr>
            <a:xfrm>
              <a:off x="5095800" y="163836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Oval 21"/>
            <p:cNvSpPr/>
            <p:nvPr/>
          </p:nvSpPr>
          <p:spPr>
            <a:xfrm>
              <a:off x="5195880" y="174960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3" name="Oval 22"/>
            <p:cNvSpPr/>
            <p:nvPr/>
          </p:nvSpPr>
          <p:spPr>
            <a:xfrm>
              <a:off x="5276880" y="1828800"/>
              <a:ext cx="952200" cy="310680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4" name="Oval 31"/>
            <p:cNvSpPr/>
            <p:nvPr/>
          </p:nvSpPr>
          <p:spPr>
            <a:xfrm>
              <a:off x="7853400" y="290844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5" name="Oval 32"/>
            <p:cNvSpPr/>
            <p:nvPr/>
          </p:nvSpPr>
          <p:spPr>
            <a:xfrm>
              <a:off x="7221600" y="115560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6" name="Oval 33"/>
            <p:cNvSpPr/>
            <p:nvPr/>
          </p:nvSpPr>
          <p:spPr>
            <a:xfrm>
              <a:off x="7300800" y="124452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7" name="Oval 34"/>
            <p:cNvSpPr/>
            <p:nvPr/>
          </p:nvSpPr>
          <p:spPr>
            <a:xfrm>
              <a:off x="7412040" y="134460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8" name="Oval 35"/>
            <p:cNvSpPr/>
            <p:nvPr/>
          </p:nvSpPr>
          <p:spPr>
            <a:xfrm>
              <a:off x="7521480" y="145728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9" name="Oval 36"/>
            <p:cNvSpPr/>
            <p:nvPr/>
          </p:nvSpPr>
          <p:spPr>
            <a:xfrm>
              <a:off x="7632720" y="155736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0" name="Oval 37"/>
            <p:cNvSpPr/>
            <p:nvPr/>
          </p:nvSpPr>
          <p:spPr>
            <a:xfrm>
              <a:off x="7724880" y="1636560"/>
              <a:ext cx="952200" cy="31068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1" name="Line 38"/>
            <p:cNvSpPr/>
            <p:nvPr/>
          </p:nvSpPr>
          <p:spPr>
            <a:xfrm flipH="1">
              <a:off x="7010280" y="3078000"/>
              <a:ext cx="914400" cy="360"/>
            </a:xfrm>
            <a:prstGeom prst="line">
              <a:avLst/>
            </a:prstGeom>
            <a:ln w="47625">
              <a:solidFill>
                <a:srgbClr val="00cc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7" dur="indefinite" restart="never" nodeType="tmRoot">
          <p:childTnLst>
            <p:seq>
              <p:cTn id="548" dur="indefinite" nodeType="mainSeq">
                <p:childTnLst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707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int                  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               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3477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NL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3477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neer(&amp;wu_aantal_l);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3477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neer(&amp;wu_aantal_l);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Line 4"/>
          <p:cNvSpPr/>
          <p:nvPr/>
        </p:nvSpPr>
        <p:spPr>
          <a:xfrm>
            <a:off x="5181480" y="239544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Line 5"/>
          <p:cNvSpPr/>
          <p:nvPr/>
        </p:nvSpPr>
        <p:spPr>
          <a:xfrm>
            <a:off x="5178240" y="181440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3477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neer(&amp;wu_aantal_l);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nl-BE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if(aantal_l==0) neer(&amp;db); </a:t>
            </a:r>
            <a:r>
              <a:rPr lang="nl-BE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nl-BE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Line 5"/>
          <p:cNvSpPr/>
          <p:nvPr/>
        </p:nvSpPr>
        <p:spPr>
          <a:xfrm>
            <a:off x="5178240" y="211428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Line 6"/>
          <p:cNvSpPr/>
          <p:nvPr/>
        </p:nvSpPr>
        <p:spPr>
          <a:xfrm>
            <a:off x="0" y="457488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7" dur="indefinite" restart="never" nodeType="tmRoot">
          <p:childTnLst>
            <p:seq>
              <p:cTn id="558" dur="indefinite" nodeType="mainSeq">
                <p:childTnLst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3477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Line 4"/>
          <p:cNvSpPr/>
          <p:nvPr/>
        </p:nvSpPr>
        <p:spPr>
          <a:xfrm>
            <a:off x="5181480" y="239544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Line 5"/>
          <p:cNvSpPr/>
          <p:nvPr/>
        </p:nvSpPr>
        <p:spPr>
          <a:xfrm>
            <a:off x="5178240" y="181440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aantal_s=0,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if(aantal_s==1) neer(&amp;lees);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if(aantal_s==0) op(&amp;lees);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34304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0381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64796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4953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        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Line 4"/>
          <p:cNvSpPr/>
          <p:nvPr/>
        </p:nvSpPr>
        <p:spPr>
          <a:xfrm>
            <a:off x="5181480" y="15127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Line 7"/>
          <p:cNvSpPr/>
          <p:nvPr/>
        </p:nvSpPr>
        <p:spPr>
          <a:xfrm>
            <a:off x="0" y="575280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Line 10"/>
          <p:cNvSpPr/>
          <p:nvPr/>
        </p:nvSpPr>
        <p:spPr>
          <a:xfrm>
            <a:off x="988920" y="413064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Line 11"/>
          <p:cNvSpPr/>
          <p:nvPr/>
        </p:nvSpPr>
        <p:spPr>
          <a:xfrm>
            <a:off x="996840" y="328284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Line 12"/>
          <p:cNvSpPr/>
          <p:nvPr/>
        </p:nvSpPr>
        <p:spPr>
          <a:xfrm>
            <a:off x="993600" y="2701800"/>
            <a:ext cx="35053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64796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               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4953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       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Line 4"/>
          <p:cNvSpPr/>
          <p:nvPr/>
        </p:nvSpPr>
        <p:spPr>
          <a:xfrm>
            <a:off x="5181480" y="15127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Line 5"/>
          <p:cNvSpPr/>
          <p:nvPr/>
        </p:nvSpPr>
        <p:spPr>
          <a:xfrm>
            <a:off x="0" y="575280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Line 6"/>
          <p:cNvSpPr/>
          <p:nvPr/>
        </p:nvSpPr>
        <p:spPr>
          <a:xfrm>
            <a:off x="988920" y="413064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Line 7"/>
          <p:cNvSpPr/>
          <p:nvPr/>
        </p:nvSpPr>
        <p:spPr>
          <a:xfrm>
            <a:off x="996840" y="328284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Line 8"/>
          <p:cNvSpPr/>
          <p:nvPr/>
        </p:nvSpPr>
        <p:spPr>
          <a:xfrm>
            <a:off x="993600" y="2701800"/>
            <a:ext cx="35053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64796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4953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Line 4"/>
          <p:cNvSpPr/>
          <p:nvPr/>
        </p:nvSpPr>
        <p:spPr>
          <a:xfrm>
            <a:off x="5181480" y="15127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Line 5"/>
          <p:cNvSpPr/>
          <p:nvPr/>
        </p:nvSpPr>
        <p:spPr>
          <a:xfrm>
            <a:off x="914400" y="327636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Line 6"/>
          <p:cNvSpPr/>
          <p:nvPr/>
        </p:nvSpPr>
        <p:spPr>
          <a:xfrm>
            <a:off x="914400" y="268920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Line 8"/>
          <p:cNvSpPr/>
          <p:nvPr/>
        </p:nvSpPr>
        <p:spPr>
          <a:xfrm flipH="1">
            <a:off x="6553080" y="281916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64796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        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 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4953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       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Line 4"/>
          <p:cNvSpPr/>
          <p:nvPr/>
        </p:nvSpPr>
        <p:spPr>
          <a:xfrm>
            <a:off x="5181480" y="15127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Line 5"/>
          <p:cNvSpPr/>
          <p:nvPr/>
        </p:nvSpPr>
        <p:spPr>
          <a:xfrm>
            <a:off x="914400" y="327636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Line 6"/>
          <p:cNvSpPr/>
          <p:nvPr/>
        </p:nvSpPr>
        <p:spPr>
          <a:xfrm>
            <a:off x="914400" y="268920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Line 7"/>
          <p:cNvSpPr/>
          <p:nvPr/>
        </p:nvSpPr>
        <p:spPr>
          <a:xfrm flipH="1">
            <a:off x="6553080" y="281916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/>
          </p:nvPr>
        </p:nvSpPr>
        <p:spPr>
          <a:xfrm>
            <a:off x="380880" y="0"/>
            <a:ext cx="4642920" cy="6095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      aantal_s=0,aantal_l=0;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queue=1,</a:t>
            </a: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lees=1;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wu_aantal_s=1;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semafoor  wu_aantal_l=1,db=1;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schrijver(void){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produceer_data();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  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if(aantal_s==1) neer(&amp;lees);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schrijf_db();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indent="-22860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aantal_s--;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if(aantal_s==0) op(&amp;lees);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4648320" y="0"/>
            <a:ext cx="4495320" cy="6476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void lezer(void){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neer(&amp;queue);              </a:t>
            </a:r>
            <a:r>
              <a:rPr lang="en-US" sz="16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XXX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neer(&amp;lees);       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aantal_l++;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if(aantal_l==1) neer(&amp;db);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op(&amp;lees);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op(&amp;queue);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lees_db();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neer(&amp;wu_aantal_l);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aantal_l--;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if(aantal_l==0) op(&amp;db);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op(&amp;wu_aantal_l);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verwerk_data();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1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Line 4"/>
          <p:cNvSpPr/>
          <p:nvPr/>
        </p:nvSpPr>
        <p:spPr>
          <a:xfrm>
            <a:off x="5181480" y="121284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Line 5"/>
          <p:cNvSpPr/>
          <p:nvPr/>
        </p:nvSpPr>
        <p:spPr>
          <a:xfrm>
            <a:off x="914400" y="327636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Line 6"/>
          <p:cNvSpPr/>
          <p:nvPr/>
        </p:nvSpPr>
        <p:spPr>
          <a:xfrm>
            <a:off x="914400" y="2689200"/>
            <a:ext cx="350496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Line 8"/>
          <p:cNvSpPr/>
          <p:nvPr/>
        </p:nvSpPr>
        <p:spPr>
          <a:xfrm flipH="1">
            <a:off x="6553080" y="2819160"/>
            <a:ext cx="914400" cy="360"/>
          </a:xfrm>
          <a:prstGeom prst="line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Line 10"/>
          <p:cNvSpPr/>
          <p:nvPr/>
        </p:nvSpPr>
        <p:spPr>
          <a:xfrm>
            <a:off x="5181480" y="15127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roup 22"/>
          <p:cNvGrpSpPr/>
          <p:nvPr/>
        </p:nvGrpSpPr>
        <p:grpSpPr>
          <a:xfrm>
            <a:off x="95400" y="358920"/>
            <a:ext cx="8843400" cy="6474960"/>
            <a:chOff x="95400" y="358920"/>
            <a:chExt cx="8843400" cy="6474960"/>
          </a:xfrm>
        </p:grpSpPr>
        <p:pic>
          <p:nvPicPr>
            <p:cNvPr id="700" name="Picture 7"/>
            <p:cNvPicPr/>
            <p:nvPr/>
          </p:nvPicPr>
          <p:blipFill>
            <a:blip r:embed="rId1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01" name="Picture 15"/>
            <p:cNvPicPr/>
            <p:nvPr/>
          </p:nvPicPr>
          <p:blipFill>
            <a:blip r:embed="rId2"/>
            <a:stretch/>
          </p:blipFill>
          <p:spPr>
            <a:xfrm>
              <a:off x="95400" y="2676600"/>
              <a:ext cx="4476240" cy="262368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2" name="Group 21"/>
          <p:cNvGrpSpPr/>
          <p:nvPr/>
        </p:nvGrpSpPr>
        <p:grpSpPr>
          <a:xfrm>
            <a:off x="95400" y="358920"/>
            <a:ext cx="8843400" cy="6474960"/>
            <a:chOff x="95400" y="358920"/>
            <a:chExt cx="8843400" cy="6474960"/>
          </a:xfrm>
        </p:grpSpPr>
        <p:pic>
          <p:nvPicPr>
            <p:cNvPr id="703" name="Picture 8"/>
            <p:cNvPicPr/>
            <p:nvPr/>
          </p:nvPicPr>
          <p:blipFill>
            <a:blip r:embed="rId3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04" name="Picture 16"/>
            <p:cNvPicPr/>
            <p:nvPr/>
          </p:nvPicPr>
          <p:blipFill>
            <a:blip r:embed="rId4"/>
            <a:stretch/>
          </p:blipFill>
          <p:spPr>
            <a:xfrm>
              <a:off x="95400" y="2676600"/>
              <a:ext cx="4476240" cy="262368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5" name="Group 20"/>
          <p:cNvGrpSpPr/>
          <p:nvPr/>
        </p:nvGrpSpPr>
        <p:grpSpPr>
          <a:xfrm>
            <a:off x="95400" y="358920"/>
            <a:ext cx="8843400" cy="6474960"/>
            <a:chOff x="95400" y="358920"/>
            <a:chExt cx="8843400" cy="6474960"/>
          </a:xfrm>
        </p:grpSpPr>
        <p:pic>
          <p:nvPicPr>
            <p:cNvPr id="706" name="Picture 9"/>
            <p:cNvPicPr/>
            <p:nvPr/>
          </p:nvPicPr>
          <p:blipFill>
            <a:blip r:embed="rId5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07" name="Picture 17"/>
            <p:cNvPicPr/>
            <p:nvPr/>
          </p:nvPicPr>
          <p:blipFill>
            <a:blip r:embed="rId6"/>
            <a:stretch/>
          </p:blipFill>
          <p:spPr>
            <a:xfrm>
              <a:off x="95400" y="2676600"/>
              <a:ext cx="4476240" cy="262368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708" name="Picture 18"/>
          <p:cNvPicPr/>
          <p:nvPr/>
        </p:nvPicPr>
        <p:blipFill>
          <a:blip r:embed="rId7"/>
          <a:stretch/>
        </p:blipFill>
        <p:spPr>
          <a:xfrm>
            <a:off x="95400" y="2676600"/>
            <a:ext cx="4476240" cy="26236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9" name="Picture 19"/>
          <p:cNvPicPr/>
          <p:nvPr/>
        </p:nvPicPr>
        <p:blipFill>
          <a:blip r:embed="rId8"/>
          <a:stretch/>
        </p:blipFill>
        <p:spPr>
          <a:xfrm>
            <a:off x="95400" y="2676600"/>
            <a:ext cx="4476240" cy="2623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0" name="PlaceHolder 1"/>
          <p:cNvSpPr>
            <a:spLocks noGrp="1"/>
          </p:cNvSpPr>
          <p:nvPr>
            <p:ph/>
          </p:nvPr>
        </p:nvSpPr>
        <p:spPr>
          <a:xfrm>
            <a:off x="685800" y="936720"/>
            <a:ext cx="8457840" cy="57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wederzijdse uitsluiting !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3" dur="indefinite" restart="never" nodeType="tmRoot">
          <p:childTnLst>
            <p:seq>
              <p:cTn id="564" dur="indefinite" nodeType="mainSeq">
                <p:childTnLst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roup 32"/>
          <p:cNvGrpSpPr/>
          <p:nvPr/>
        </p:nvGrpSpPr>
        <p:grpSpPr>
          <a:xfrm>
            <a:off x="60480" y="358920"/>
            <a:ext cx="8878320" cy="6474960"/>
            <a:chOff x="60480" y="358920"/>
            <a:chExt cx="8878320" cy="6474960"/>
          </a:xfrm>
        </p:grpSpPr>
        <p:pic>
          <p:nvPicPr>
            <p:cNvPr id="713" name="Picture 8"/>
            <p:cNvPicPr/>
            <p:nvPr/>
          </p:nvPicPr>
          <p:blipFill>
            <a:blip r:embed="rId1"/>
            <a:stretch/>
          </p:blipFill>
          <p:spPr>
            <a:xfrm>
              <a:off x="60480" y="2286000"/>
              <a:ext cx="4654080" cy="33746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4" name="Picture 4"/>
            <p:cNvPicPr/>
            <p:nvPr/>
          </p:nvPicPr>
          <p:blipFill>
            <a:blip r:embed="rId2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15" name="Group 31"/>
          <p:cNvGrpSpPr/>
          <p:nvPr/>
        </p:nvGrpSpPr>
        <p:grpSpPr>
          <a:xfrm>
            <a:off x="61920" y="358920"/>
            <a:ext cx="8876880" cy="6474960"/>
            <a:chOff x="61920" y="358920"/>
            <a:chExt cx="8876880" cy="6474960"/>
          </a:xfrm>
        </p:grpSpPr>
        <p:pic>
          <p:nvPicPr>
            <p:cNvPr id="716" name="Picture 9"/>
            <p:cNvPicPr/>
            <p:nvPr/>
          </p:nvPicPr>
          <p:blipFill>
            <a:blip r:embed="rId3"/>
            <a:stretch/>
          </p:blipFill>
          <p:spPr>
            <a:xfrm>
              <a:off x="61920" y="2286000"/>
              <a:ext cx="4654080" cy="33746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" name="Picture 5"/>
            <p:cNvPicPr/>
            <p:nvPr/>
          </p:nvPicPr>
          <p:blipFill>
            <a:blip r:embed="rId4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18" name="Group 30"/>
          <p:cNvGrpSpPr/>
          <p:nvPr/>
        </p:nvGrpSpPr>
        <p:grpSpPr>
          <a:xfrm>
            <a:off x="61920" y="358920"/>
            <a:ext cx="8876880" cy="6474960"/>
            <a:chOff x="61920" y="358920"/>
            <a:chExt cx="8876880" cy="6474960"/>
          </a:xfrm>
        </p:grpSpPr>
        <p:pic>
          <p:nvPicPr>
            <p:cNvPr id="719" name="Picture 11"/>
            <p:cNvPicPr/>
            <p:nvPr/>
          </p:nvPicPr>
          <p:blipFill>
            <a:blip r:embed="rId5"/>
            <a:stretch/>
          </p:blipFill>
          <p:spPr>
            <a:xfrm>
              <a:off x="61920" y="2286000"/>
              <a:ext cx="4654080" cy="3374640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720" name="Group 23"/>
            <p:cNvGrpSpPr/>
            <p:nvPr/>
          </p:nvGrpSpPr>
          <p:grpSpPr>
            <a:xfrm>
              <a:off x="4749840" y="358920"/>
              <a:ext cx="4188960" cy="6474960"/>
              <a:chOff x="4749840" y="358920"/>
              <a:chExt cx="4188960" cy="6474960"/>
            </a:xfrm>
          </p:grpSpPr>
          <p:pic>
            <p:nvPicPr>
              <p:cNvPr id="721" name="Picture 6"/>
              <p:cNvPicPr/>
              <p:nvPr/>
            </p:nvPicPr>
            <p:blipFill>
              <a:blip r:embed="rId6"/>
              <a:stretch/>
            </p:blipFill>
            <p:spPr>
              <a:xfrm>
                <a:off x="4749840" y="358920"/>
                <a:ext cx="4188960" cy="64749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722" name="Picture 20"/>
              <p:cNvPicPr/>
              <p:nvPr/>
            </p:nvPicPr>
            <p:blipFill>
              <a:blip r:embed="rId7"/>
              <a:stretch/>
            </p:blipFill>
            <p:spPr>
              <a:xfrm>
                <a:off x="6939000" y="3635280"/>
                <a:ext cx="1444320" cy="32508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pic>
        <p:nvPicPr>
          <p:cNvPr id="723" name="Picture 12"/>
          <p:cNvPicPr/>
          <p:nvPr/>
        </p:nvPicPr>
        <p:blipFill>
          <a:blip r:embed="rId8"/>
          <a:stretch/>
        </p:blipFill>
        <p:spPr>
          <a:xfrm>
            <a:off x="61920" y="2286000"/>
            <a:ext cx="4654080" cy="337464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24" name="Group 29"/>
          <p:cNvGrpSpPr/>
          <p:nvPr/>
        </p:nvGrpSpPr>
        <p:grpSpPr>
          <a:xfrm>
            <a:off x="61920" y="2286000"/>
            <a:ext cx="8364240" cy="3374640"/>
            <a:chOff x="61920" y="2286000"/>
            <a:chExt cx="8364240" cy="3374640"/>
          </a:xfrm>
        </p:grpSpPr>
        <p:pic>
          <p:nvPicPr>
            <p:cNvPr id="725" name="Picture 13"/>
            <p:cNvPicPr/>
            <p:nvPr/>
          </p:nvPicPr>
          <p:blipFill>
            <a:blip r:embed="rId9"/>
            <a:stretch/>
          </p:blipFill>
          <p:spPr>
            <a:xfrm>
              <a:off x="61920" y="2286000"/>
              <a:ext cx="4654080" cy="33746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6" name="Picture 18"/>
            <p:cNvPicPr/>
            <p:nvPr/>
          </p:nvPicPr>
          <p:blipFill>
            <a:blip r:embed="rId10"/>
            <a:stretch/>
          </p:blipFill>
          <p:spPr>
            <a:xfrm>
              <a:off x="6897600" y="5092560"/>
              <a:ext cx="1528560" cy="27756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27" name="Group 22"/>
          <p:cNvGrpSpPr/>
          <p:nvPr/>
        </p:nvGrpSpPr>
        <p:grpSpPr>
          <a:xfrm>
            <a:off x="4749840" y="358920"/>
            <a:ext cx="4188960" cy="6474960"/>
            <a:chOff x="4749840" y="358920"/>
            <a:chExt cx="4188960" cy="6474960"/>
          </a:xfrm>
        </p:grpSpPr>
        <p:pic>
          <p:nvPicPr>
            <p:cNvPr id="728" name="Picture 7"/>
            <p:cNvPicPr/>
            <p:nvPr/>
          </p:nvPicPr>
          <p:blipFill>
            <a:blip r:embed="rId11"/>
            <a:stretch/>
          </p:blipFill>
          <p:spPr>
            <a:xfrm>
              <a:off x="4749840" y="358920"/>
              <a:ext cx="4188960" cy="64749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9" name="Picture 19"/>
            <p:cNvPicPr/>
            <p:nvPr/>
          </p:nvPicPr>
          <p:blipFill>
            <a:blip r:embed="rId12"/>
            <a:stretch/>
          </p:blipFill>
          <p:spPr>
            <a:xfrm>
              <a:off x="6897600" y="5092560"/>
              <a:ext cx="1528560" cy="2775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30" name="Picture 21"/>
            <p:cNvPicPr/>
            <p:nvPr/>
          </p:nvPicPr>
          <p:blipFill>
            <a:blip r:embed="rId13"/>
            <a:stretch/>
          </p:blipFill>
          <p:spPr>
            <a:xfrm>
              <a:off x="6939000" y="3635280"/>
              <a:ext cx="1444320" cy="32508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31" name="PlaceHolder 1"/>
          <p:cNvSpPr>
            <a:spLocks noGrp="1"/>
          </p:cNvSpPr>
          <p:nvPr>
            <p:ph/>
          </p:nvPr>
        </p:nvSpPr>
        <p:spPr>
          <a:xfrm>
            <a:off x="685800" y="936720"/>
            <a:ext cx="8457840" cy="579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synchronisatie ?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5" dur="indefinite" restart="never" nodeType="tmRoot">
          <p:childTnLst>
            <p:seq>
              <p:cTn id="586" dur="indefinite" nodeType="mainSeq">
                <p:childTnLst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0" y="947880"/>
            <a:ext cx="4495320" cy="1923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plaats();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/>
          </p:nvPr>
        </p:nvSpPr>
        <p:spPr>
          <a:xfrm>
            <a:off x="4417920" y="946080"/>
            <a:ext cx="4057200" cy="2069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neem();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Rectangle 1029"/>
          <p:cNvSpPr/>
          <p:nvPr/>
        </p:nvSpPr>
        <p:spPr>
          <a:xfrm>
            <a:off x="0" y="3379680"/>
            <a:ext cx="4451040" cy="347796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plaats()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b[out++]=p;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out%=N;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aantal++;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Rectangle 1030"/>
          <p:cNvSpPr/>
          <p:nvPr/>
        </p:nvSpPr>
        <p:spPr>
          <a:xfrm>
            <a:off x="4421160" y="3378240"/>
            <a:ext cx="4722480" cy="34794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neem()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c=b[in++];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in%=N;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aantal--;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/>
          </p:nvPr>
        </p:nvSpPr>
        <p:spPr>
          <a:xfrm>
            <a:off x="0" y="947880"/>
            <a:ext cx="4495320" cy="1923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plaats();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/>
          </p:nvPr>
        </p:nvSpPr>
        <p:spPr>
          <a:xfrm>
            <a:off x="4417920" y="946080"/>
            <a:ext cx="4057200" cy="2069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neem();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Rectangle 5"/>
          <p:cNvSpPr/>
          <p:nvPr/>
        </p:nvSpPr>
        <p:spPr>
          <a:xfrm>
            <a:off x="0" y="3379680"/>
            <a:ext cx="4441320" cy="347796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plaats()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if (aantal==N)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wait(vol);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b[out++]=p;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out%=N;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aantal++;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ectangle 6"/>
          <p:cNvSpPr/>
          <p:nvPr/>
        </p:nvSpPr>
        <p:spPr>
          <a:xfrm>
            <a:off x="4421160" y="3378240"/>
            <a:ext cx="4722480" cy="34794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neem()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c=b[in++];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in%=N;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aantal--;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if(aantal+1==N)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signal(vol);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/>
          </p:nvPr>
        </p:nvSpPr>
        <p:spPr>
          <a:xfrm>
            <a:off x="0" y="947880"/>
            <a:ext cx="4495320" cy="1923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  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plaats();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/>
          </p:nvPr>
        </p:nvSpPr>
        <p:spPr>
          <a:xfrm>
            <a:off x="4417920" y="946080"/>
            <a:ext cx="4057200" cy="2069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  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neem();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Rectangle 5"/>
          <p:cNvSpPr/>
          <p:nvPr/>
        </p:nvSpPr>
        <p:spPr>
          <a:xfrm>
            <a:off x="0" y="3379680"/>
            <a:ext cx="4439880" cy="347796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plaats()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(aantal==N)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wait(vol);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b[out++]=p;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out%=N;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aantal++;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if (aantal==1)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signal(leeg);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6"/>
          <p:cNvSpPr/>
          <p:nvPr/>
        </p:nvSpPr>
        <p:spPr>
          <a:xfrm>
            <a:off x="4421160" y="3378240"/>
            <a:ext cx="4722480" cy="34794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neem()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if (aantal==0)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wait(leeg);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c=b[in++];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in%=N;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aantal--;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if(aantal+1==N)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signal(vol);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Line 7"/>
          <p:cNvSpPr/>
          <p:nvPr/>
        </p:nvSpPr>
        <p:spPr>
          <a:xfrm>
            <a:off x="4876560" y="413532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Line 8"/>
          <p:cNvSpPr/>
          <p:nvPr/>
        </p:nvSpPr>
        <p:spPr>
          <a:xfrm>
            <a:off x="599760" y="3778200"/>
            <a:ext cx="3276720" cy="360"/>
          </a:xfrm>
          <a:prstGeom prst="line">
            <a:avLst/>
          </a:prstGeom>
          <a:ln w="38100">
            <a:solidFill>
              <a:srgbClr val="00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pPr>
              <a:lnSpc>
                <a:spcPct val="100000"/>
              </a:lnSpc>
            </a:pPr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7" dur="indefinite" restart="never" nodeType="tmRoot">
          <p:childTnLst>
            <p:seq>
              <p:cTn id="608" dur="indefinite" nodeType="mainSeq">
                <p:childTnLst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/>
          </p:nvPr>
        </p:nvSpPr>
        <p:spPr>
          <a:xfrm>
            <a:off x="685800" y="936720"/>
            <a:ext cx="8457840" cy="561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Java implementatie (cfr. Mesa):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geen expliciete conditie variabelen: aan elk object zijn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lock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impliciete conditie variabele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entryqueue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en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waitqueue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gekoppeld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synchronized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sleutelwoord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</a:t>
            </a:r>
            <a:r>
              <a:rPr lang="nl-BE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, notify</a:t>
            </a:r>
            <a:r>
              <a:rPr lang="nl-BE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()</a:t>
            </a: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en</a:t>
            </a: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r>
              <a:rPr lang="nl-BE" sz="32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notifyall</a:t>
            </a:r>
            <a:r>
              <a:rPr lang="nl-BE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()</a:t>
            </a:r>
            <a:r>
              <a:rPr lang="nl-BE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primitieven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752" name="Picture 7"/>
          <p:cNvPicPr/>
          <p:nvPr/>
        </p:nvPicPr>
        <p:blipFill>
          <a:blip r:embed="rId1"/>
          <a:stretch/>
        </p:blipFill>
        <p:spPr>
          <a:xfrm>
            <a:off x="0" y="3200400"/>
            <a:ext cx="9143640" cy="20840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7" dur="indefinite" restart="never" nodeType="tmRoot">
          <p:childTnLst>
            <p:seq>
              <p:cTn id="618" dur="indefinite" nodeType="mainSeq">
                <p:childTnLst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685800" y="936720"/>
            <a:ext cx="8457840" cy="532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Java implementatie: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geen expliciete conditie variabelen: aan elk object zijn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lock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impliciete conditie variabele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entryqueue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en 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waitqueue</a:t>
            </a: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gekoppeld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na </a:t>
            </a:r>
            <a:r>
              <a:rPr lang="nl-NL" sz="32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notify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() kan thread actief blijven: thread die notify ontvangt (waitqueue </a:t>
            </a:r>
            <a:r>
              <a:rPr lang="nl-NL" sz="2400" b="0" u="none" strike="noStrike">
                <a:solidFill>
                  <a:srgbClr val="ff0000"/>
                </a:solidFill>
                <a:effectLst/>
                <a:uFillTx/>
                <a:latin typeface="Wingdings"/>
              </a:rPr>
              <a:t>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entryqueue) wordt niet noodzakelijk onmiddellijk actief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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geen zekerheid dat conditie nog steeds vervuld is op moment actief worden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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actief wachten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vereist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  if</a:t>
            </a:r>
            <a:r>
              <a:rPr lang="nl-NL" sz="32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e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(…) o.</a:t>
            </a:r>
            <a:r>
              <a:rPr lang="nl-NL" sz="32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55" name="Group 4"/>
          <p:cNvGrpSpPr/>
          <p:nvPr/>
        </p:nvGrpSpPr>
        <p:grpSpPr>
          <a:xfrm>
            <a:off x="5227560" y="5811480"/>
            <a:ext cx="1118880" cy="1001880"/>
            <a:chOff x="5227560" y="5811480"/>
            <a:chExt cx="1118880" cy="1001880"/>
          </a:xfrm>
        </p:grpSpPr>
        <p:sp>
          <p:nvSpPr>
            <p:cNvPr id="756" name="Text Box 5"/>
            <p:cNvSpPr/>
            <p:nvPr/>
          </p:nvSpPr>
          <p:spPr>
            <a:xfrm>
              <a:off x="5227560" y="6234120"/>
              <a:ext cx="1118880" cy="579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NL" sz="3200" b="1" u="none" strike="noStrike">
                  <a:solidFill>
                    <a:srgbClr val="ff0000"/>
                  </a:solidFill>
                  <a:effectLst/>
                  <a:uFillTx/>
                  <a:latin typeface="Times New Roman"/>
                </a:rPr>
                <a:t>while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Line 6"/>
            <p:cNvSpPr/>
            <p:nvPr/>
          </p:nvSpPr>
          <p:spPr>
            <a:xfrm flipH="1">
              <a:off x="5532120" y="5811480"/>
              <a:ext cx="559080" cy="536760"/>
            </a:xfrm>
            <a:prstGeom prst="line">
              <a:avLst/>
            </a:prstGeom>
            <a:ln w="508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7" dur="indefinite" restart="never" nodeType="tmRoot">
          <p:childTnLst>
            <p:seq>
              <p:cTn id="628" dur="indefinite" nodeType="mainSeq">
                <p:childTnLst>
                  <p:par>
                    <p:cTn id="629" fill="hold">
                      <p:stCondLst>
                        <p:cond delay="indefinite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/>
          </p:nvPr>
        </p:nvSpPr>
        <p:spPr>
          <a:xfrm>
            <a:off x="685800" y="936720"/>
            <a:ext cx="8000640" cy="5646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indien verschillende processen in </a:t>
            </a:r>
            <a:r>
              <a:rPr lang="nl-BE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</a:t>
            </a: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op dezelfde conditievariabele </a:t>
            </a:r>
            <a:r>
              <a:rPr lang="nl-BE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</a:t>
            </a:r>
            <a:r>
              <a:rPr lang="nl-BE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28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systeemscheduler beslist welk geblokkeerd proces wordt geactiveerd na </a:t>
            </a:r>
            <a:r>
              <a:rPr lang="nl-BE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signal</a:t>
            </a: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</a:t>
            </a:r>
            <a:r>
              <a:rPr lang="nl-BE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</a:t>
            </a: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), zelfde problematiek cfr. eventtellers vs. semaforen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320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cc99"/>
              </a:buClr>
              <a:buFont typeface="Symbol" charset="2"/>
              <a:buChar char=""/>
            </a:pPr>
            <a:r>
              <a:rPr lang="nl-NL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broadcast signal</a:t>
            </a:r>
            <a:r>
              <a:rPr lang="nl-NL" sz="36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(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</a:t>
            </a:r>
            <a:r>
              <a:rPr lang="nl-NL" sz="36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)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, notifyall</a:t>
            </a:r>
            <a:r>
              <a:rPr lang="nl-NL" sz="36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()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: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28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alle processen in </a:t>
            </a:r>
            <a:r>
              <a:rPr lang="nl-BE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wait</a:t>
            </a: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(</a:t>
            </a:r>
            <a:r>
              <a:rPr lang="nl-BE" sz="28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</a:t>
            </a: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) worden geactiveerd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320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cc99"/>
              </a:buClr>
              <a:buFont typeface="Symbol" charset="2"/>
              <a:buChar char=""/>
            </a:pPr>
            <a:r>
              <a:rPr lang="nl-NL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priority wait: 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wait(</a:t>
            </a:r>
            <a:r>
              <a:rPr lang="nl-NL" sz="36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,</a:t>
            </a:r>
            <a:r>
              <a:rPr lang="nl-NL" sz="36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prioriteit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28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BE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wait met laagste prioriteit wordt eerst geactiveerd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9" dur="indefinite" restart="never" nodeType="tmRoot">
          <p:childTnLst>
            <p:seq>
              <p:cTn id="640" dur="indefinite" nodeType="mainSeq">
                <p:childTnLst>
                  <p:par>
                    <p:cTn id="641" fill="hold">
                      <p:stCondLst>
                        <p:cond delay="indefinite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Picture 5"/>
          <p:cNvPicPr/>
          <p:nvPr/>
        </p:nvPicPr>
        <p:blipFill>
          <a:blip r:embed="rId1"/>
          <a:stretch/>
        </p:blipFill>
        <p:spPr>
          <a:xfrm>
            <a:off x="61920" y="2865600"/>
            <a:ext cx="2719080" cy="3754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1" name="Picture 4"/>
          <p:cNvPicPr/>
          <p:nvPr/>
        </p:nvPicPr>
        <p:blipFill>
          <a:blip r:embed="rId2"/>
          <a:stretch/>
        </p:blipFill>
        <p:spPr>
          <a:xfrm>
            <a:off x="61920" y="2865600"/>
            <a:ext cx="2719080" cy="3754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685800" y="936720"/>
            <a:ext cx="8229240" cy="571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toepassing 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priority wait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het </a:t>
            </a:r>
            <a:r>
              <a:rPr lang="nl-NL" sz="36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liftalgoritme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lift blijft in dezelfde zin bewegen zolang er   geregistreerde verzoeken zijn in die zin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BE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onderweg wordt voldaan aan alle  geregistreerde verzoeken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78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ongeacht in welke volgorde die geplaatst zijn</a:t>
            </a:r>
            <a:endParaRPr lang="en-US" sz="2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78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2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ongeacht type (intern of extern)</a:t>
            </a:r>
            <a:endParaRPr lang="en-US" sz="2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78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eens in beweging, wordt de verplaatsing niet onderbroken, ondanks nieuwe verzoeken</a:t>
            </a:r>
            <a:endParaRPr lang="en-US" sz="2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bewegingszin wordt enkel omgekeerd indien er geen verzoeken meer zijn in die zin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3" dur="indefinite" restart="never" nodeType="tmRoot">
          <p:childTnLst>
            <p:seq>
              <p:cTn id="654" dur="indefinite" nodeType="mainSeq">
                <p:childTnLst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>
            <a:off x="685800" y="936720"/>
            <a:ext cx="8229240" cy="3441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toepassing </a:t>
            </a:r>
            <a:r>
              <a:rPr lang="nl-NL" sz="36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priority wait</a:t>
            </a: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het </a:t>
            </a:r>
            <a:r>
              <a:rPr lang="nl-NL" sz="3600" b="0" i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liftalgoritme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32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</a:t>
            </a: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wordt gebruikt in schijfscheduling (§6.5)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minimaliseert de 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mechanische zoektijd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naar schijfsectoren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BE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onderdeel van I/O mechanisme dat de grootste invloed heeft op de systeemprestaties, meer dan  </a:t>
            </a:r>
            <a:r>
              <a:rPr lang="nl-BE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rotatielatentie</a:t>
            </a:r>
            <a:r>
              <a:rPr lang="nl-BE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en </a:t>
            </a:r>
            <a:r>
              <a:rPr lang="nl-BE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overdrachtssnelheid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9" dur="indefinite" restart="never" nodeType="tmRoot">
          <p:childTnLst>
            <p:seq>
              <p:cTn id="670" dur="indefinite" nodeType="mainSeq">
                <p:childTnLst>
                  <p:par>
                    <p:cTn id="671" fill="hold">
                      <p:stCondLst>
                        <p:cond delay="indefinite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67" name="Group 11"/>
          <p:cNvGrpSpPr/>
          <p:nvPr/>
        </p:nvGrpSpPr>
        <p:grpSpPr>
          <a:xfrm>
            <a:off x="304920" y="1023840"/>
            <a:ext cx="8546760" cy="5833800"/>
            <a:chOff x="304920" y="1023840"/>
            <a:chExt cx="8546760" cy="5833800"/>
          </a:xfrm>
        </p:grpSpPr>
        <p:pic>
          <p:nvPicPr>
            <p:cNvPr id="768" name="Picture 9"/>
            <p:cNvPicPr/>
            <p:nvPr/>
          </p:nvPicPr>
          <p:blipFill>
            <a:blip r:embed="rId1"/>
            <a:stretch/>
          </p:blipFill>
          <p:spPr>
            <a:xfrm>
              <a:off x="304920" y="1023840"/>
              <a:ext cx="8546760" cy="58338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69" name="Picture 10"/>
            <p:cNvPicPr/>
            <p:nvPr/>
          </p:nvPicPr>
          <p:blipFill>
            <a:blip r:embed="rId2"/>
            <a:stretch/>
          </p:blipFill>
          <p:spPr>
            <a:xfrm>
              <a:off x="7831080" y="1073160"/>
              <a:ext cx="312480" cy="25380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zin,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wait(stijgt);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wait(daalt);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else { // 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zin,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wait(stijgt);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wait(daalt);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else { // 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zin,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,doel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,-doel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else { // 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zin,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else { // 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zin,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nl-BE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zin,niveau;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if (</a:t>
            </a:r>
            <a:r>
              <a:rPr lang="nl-BE" sz="2000" b="1" i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zin,niveau;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else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 (</a:t>
            </a:r>
            <a:r>
              <a:rPr lang="nl-BE" sz="2000" b="1" i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zin,niveau;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else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zin,niveau;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else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vrij=FALSE;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monitors: het liftalgoritme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Rectangle 3"/>
          <p:cNvSpPr/>
          <p:nvPr/>
        </p:nvSpPr>
        <p:spPr>
          <a:xfrm>
            <a:off x="0" y="990720"/>
            <a:ext cx="495252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int zin,niveau;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boolean vrij;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condition stijgt,daalt;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aanvraag(int doel)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if (!vrij)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if (niveau&lt;doel)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wait(stijgt,doel);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else if (niveau&gt;doel)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wait(daalt,-doel);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else </a:t>
            </a:r>
            <a:r>
              <a:rPr lang="en-US" sz="2000" b="1" u="none" strike="noStrike">
                <a:solidFill>
                  <a:srgbClr val="ffff99"/>
                </a:solidFill>
                <a:effectLst/>
                <a:uFillTx/>
                <a:latin typeface="Courier New"/>
              </a:rPr>
              <a:t>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if (zin==STIJGEND)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wait(stijgt,doel);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    wait(daalt,-doel);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vrij=FALSE;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niveau=doel;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// +liftactie</a:t>
            </a: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ectangle 4"/>
          <p:cNvSpPr/>
          <p:nvPr/>
        </p:nvSpPr>
        <p:spPr>
          <a:xfrm>
            <a:off x="4724280" y="990720"/>
            <a:ext cx="4419360" cy="582264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activeer()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vrij=TRUE;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(zin==STIJGEND)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ourier New"/>
              </a:rPr>
              <a:t>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if (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(stijgt))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zin=DALEND;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else { //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(zin==DALEND)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if (</a:t>
            </a:r>
            <a:r>
              <a:rPr lang="nl-BE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Qleeg</a:t>
            </a: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(daalt))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zin=STIJGEND;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signal(stijgt);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   signal(daalt);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   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lang="nl-BE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/>
          </p:nvPr>
        </p:nvSpPr>
        <p:spPr>
          <a:xfrm>
            <a:off x="685800" y="1252440"/>
            <a:ext cx="7772040" cy="3449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basisprimitieven: send() &amp; receive()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send() blokkeert, receive() blokkeert (</a:t>
            </a:r>
            <a:r>
              <a:rPr lang="nl-NL" sz="32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synchroon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, </a:t>
            </a:r>
            <a:r>
              <a:rPr lang="nl-NL" sz="32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rendez-vous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mechanisme)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enkel receive() blokkeert 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(</a:t>
            </a:r>
            <a:r>
              <a:rPr lang="nl-NL" sz="32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asynchroon</a:t>
            </a: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)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32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geen blokkerende operaties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nl-NL" sz="36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directe of indirecte adressering ?</a:t>
            </a:r>
            <a:endParaRPr lang="en-US" sz="36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02" name="Group 10"/>
          <p:cNvGrpSpPr/>
          <p:nvPr/>
        </p:nvGrpSpPr>
        <p:grpSpPr>
          <a:xfrm>
            <a:off x="4826160" y="4719600"/>
            <a:ext cx="3857400" cy="2147400"/>
            <a:chOff x="4826160" y="4719600"/>
            <a:chExt cx="3857400" cy="2147400"/>
          </a:xfrm>
        </p:grpSpPr>
        <p:pic>
          <p:nvPicPr>
            <p:cNvPr id="803" name="Picture 7"/>
            <p:cNvPicPr/>
            <p:nvPr/>
          </p:nvPicPr>
          <p:blipFill>
            <a:blip r:embed="rId1"/>
            <a:srcRect l="0" t="50897" r="0" b="0"/>
            <a:stretch/>
          </p:blipFill>
          <p:spPr>
            <a:xfrm>
              <a:off x="4826160" y="4719600"/>
              <a:ext cx="3857400" cy="21474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804" name="Rectangle 8"/>
            <p:cNvSpPr/>
            <p:nvPr/>
          </p:nvSpPr>
          <p:spPr>
            <a:xfrm>
              <a:off x="6338880" y="5748480"/>
              <a:ext cx="802800" cy="3837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05" name="Group 17"/>
          <p:cNvGrpSpPr/>
          <p:nvPr/>
        </p:nvGrpSpPr>
        <p:grpSpPr>
          <a:xfrm>
            <a:off x="460440" y="4780080"/>
            <a:ext cx="3857400" cy="2147400"/>
            <a:chOff x="460440" y="4780080"/>
            <a:chExt cx="3857400" cy="2147400"/>
          </a:xfrm>
        </p:grpSpPr>
        <p:sp>
          <p:nvSpPr>
            <p:cNvPr id="806" name="AutoShape 12"/>
            <p:cNvSpPr/>
            <p:nvPr/>
          </p:nvSpPr>
          <p:spPr>
            <a:xfrm>
              <a:off x="460440" y="4780080"/>
              <a:ext cx="3857400" cy="2147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807" name="Picture 14"/>
            <p:cNvPicPr/>
            <p:nvPr/>
          </p:nvPicPr>
          <p:blipFill>
            <a:blip r:embed="rId2"/>
            <a:srcRect l="0" t="0" r="0" b="52475"/>
            <a:stretch/>
          </p:blipFill>
          <p:spPr>
            <a:xfrm>
              <a:off x="479520" y="4794120"/>
              <a:ext cx="3806640" cy="2057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8" name="Rectangle 5"/>
            <p:cNvSpPr/>
            <p:nvPr/>
          </p:nvSpPr>
          <p:spPr>
            <a:xfrm>
              <a:off x="1965240" y="5738760"/>
              <a:ext cx="802800" cy="3837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7" dur="indefinite" restart="never" nodeType="tmRoot">
          <p:childTnLst>
            <p:seq>
              <p:cTn id="678" dur="indefinite" nodeType="mainSeq">
                <p:childTnLst>
                  <p:par>
                    <p:cTn id="679" fill="hold">
                      <p:stCondLst>
                        <p:cond delay="indefinite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3809520" cy="3957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4244760" cy="3957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send(consument,&amp;p);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424476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receive(producent,&amp;c);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receive(consument);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send(consument,&amp;p);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424476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receive(producent,&amp;c);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send(producent);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doorgeven van berichten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producent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ourier New"/>
              </a:rPr>
              <a:t>   send(producent);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produceer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receive(consument);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send(consument,&amp;p);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/>
          </p:nvPr>
        </p:nvSpPr>
        <p:spPr>
          <a:xfrm>
            <a:off x="4648320" y="1447920"/>
            <a:ext cx="424476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Proces consument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for(i=0;i&lt;N;i++)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send(producent);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while(1) {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receive(producent,&amp;c); 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...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send(producent);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   </a:t>
            </a:r>
            <a:r>
              <a:rPr lang="en-US" sz="2000" b="1" i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consumeer</a:t>
            </a: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(&amp;c);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accent2"/>
                </a:solidFill>
                <a:effectLst/>
                <a:uFillTx/>
                <a:latin typeface="Courier New"/>
              </a:rPr>
              <a:t>}</a:t>
            </a:r>
            <a:endParaRPr lang="en-US" sz="20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23" name="Picture 4"/>
          <p:cNvPicPr/>
          <p:nvPr/>
        </p:nvPicPr>
        <p:blipFill>
          <a:blip r:embed="rId1"/>
          <a:stretch/>
        </p:blipFill>
        <p:spPr>
          <a:xfrm>
            <a:off x="1403280" y="2712960"/>
            <a:ext cx="6333840" cy="1428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4" name="Rectangle 5"/>
          <p:cNvSpPr/>
          <p:nvPr/>
        </p:nvSpPr>
        <p:spPr>
          <a:xfrm>
            <a:off x="2571840" y="3708360"/>
            <a:ext cx="448920" cy="25056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Rectangle 6"/>
          <p:cNvSpPr/>
          <p:nvPr/>
        </p:nvSpPr>
        <p:spPr>
          <a:xfrm>
            <a:off x="3948120" y="3274920"/>
            <a:ext cx="448920" cy="25056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Rectangle 7"/>
          <p:cNvSpPr/>
          <p:nvPr/>
        </p:nvSpPr>
        <p:spPr>
          <a:xfrm>
            <a:off x="4662360" y="3278160"/>
            <a:ext cx="453600" cy="25056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Rectangle 8"/>
          <p:cNvSpPr/>
          <p:nvPr/>
        </p:nvSpPr>
        <p:spPr>
          <a:xfrm>
            <a:off x="6218280" y="2959200"/>
            <a:ext cx="448920" cy="25056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Rectangle 9"/>
          <p:cNvSpPr/>
          <p:nvPr/>
        </p:nvSpPr>
        <p:spPr>
          <a:xfrm>
            <a:off x="6894360" y="2955960"/>
            <a:ext cx="448920" cy="25056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Line 10"/>
          <p:cNvSpPr/>
          <p:nvPr/>
        </p:nvSpPr>
        <p:spPr>
          <a:xfrm>
            <a:off x="2819160" y="4343400"/>
            <a:ext cx="1371600" cy="360"/>
          </a:xfrm>
          <a:prstGeom prst="line">
            <a:avLst/>
          </a:prstGeom>
          <a:ln w="50800">
            <a:solidFill>
              <a:srgbClr val="00cc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Line 11"/>
          <p:cNvSpPr/>
          <p:nvPr/>
        </p:nvSpPr>
        <p:spPr>
          <a:xfrm flipH="1">
            <a:off x="4952880" y="4343400"/>
            <a:ext cx="1371600" cy="360"/>
          </a:xfrm>
          <a:prstGeom prst="line">
            <a:avLst/>
          </a:prstGeom>
          <a:ln w="5080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en-US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832" name="Picture 4"/>
          <p:cNvPicPr/>
          <p:nvPr/>
        </p:nvPicPr>
        <p:blipFill>
          <a:blip r:embed="rId1"/>
          <a:stretch/>
        </p:blipFill>
        <p:spPr>
          <a:xfrm>
            <a:off x="19080" y="995400"/>
            <a:ext cx="9105480" cy="522900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cfr. dining philosophers probleem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35" name="Object 4"/>
          <p:cNvGraphicFramePr/>
          <p:nvPr/>
        </p:nvGraphicFramePr>
        <p:xfrm>
          <a:off x="1971720" y="895320"/>
          <a:ext cx="5196960" cy="5065200"/>
        </p:xfrm>
        <a:graphic>
          <a:graphicData uri="http://schemas.openxmlformats.org/presentationml/2006/ole">
            <p:oleObj progId="Word.Picture.8" r:id="rId1" spid="">
              <p:embed/>
              <p:pic>
                <p:nvPicPr>
                  <p:cNvPr id="836" name="Object 4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71720" y="895320"/>
                    <a:ext cx="5196960" cy="5065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37" name="Oval 5"/>
          <p:cNvSpPr/>
          <p:nvPr/>
        </p:nvSpPr>
        <p:spPr>
          <a:xfrm>
            <a:off x="2909880" y="1584360"/>
            <a:ext cx="3271320" cy="327132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Oval 6"/>
          <p:cNvSpPr/>
          <p:nvPr/>
        </p:nvSpPr>
        <p:spPr>
          <a:xfrm>
            <a:off x="3600360" y="197640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Oval 7"/>
          <p:cNvSpPr/>
          <p:nvPr/>
        </p:nvSpPr>
        <p:spPr>
          <a:xfrm>
            <a:off x="4334040" y="429408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Oval 8"/>
          <p:cNvSpPr/>
          <p:nvPr/>
        </p:nvSpPr>
        <p:spPr>
          <a:xfrm>
            <a:off x="3119400" y="339876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Oval 9"/>
          <p:cNvSpPr/>
          <p:nvPr/>
        </p:nvSpPr>
        <p:spPr>
          <a:xfrm>
            <a:off x="5546880" y="343836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Oval 10"/>
          <p:cNvSpPr/>
          <p:nvPr/>
        </p:nvSpPr>
        <p:spPr>
          <a:xfrm>
            <a:off x="5100480" y="1986120"/>
            <a:ext cx="434520" cy="4028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toestandsdiagrammen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45" name="Picture 4"/>
          <p:cNvPicPr/>
          <p:nvPr/>
        </p:nvPicPr>
        <p:blipFill>
          <a:blip r:embed="rId1"/>
          <a:stretch/>
        </p:blipFill>
        <p:spPr>
          <a:xfrm>
            <a:off x="754200" y="2808360"/>
            <a:ext cx="7632360" cy="1236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6" name="Oval 5"/>
          <p:cNvSpPr/>
          <p:nvPr/>
        </p:nvSpPr>
        <p:spPr>
          <a:xfrm>
            <a:off x="804960" y="3363840"/>
            <a:ext cx="609120" cy="609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Oval 6"/>
          <p:cNvSpPr/>
          <p:nvPr/>
        </p:nvSpPr>
        <p:spPr>
          <a:xfrm>
            <a:off x="2579760" y="3368520"/>
            <a:ext cx="609120" cy="609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Oval 7"/>
          <p:cNvSpPr/>
          <p:nvPr/>
        </p:nvSpPr>
        <p:spPr>
          <a:xfrm>
            <a:off x="4254480" y="3355920"/>
            <a:ext cx="609120" cy="609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Oval 8"/>
          <p:cNvSpPr/>
          <p:nvPr/>
        </p:nvSpPr>
        <p:spPr>
          <a:xfrm>
            <a:off x="6022800" y="3362400"/>
            <a:ext cx="609120" cy="609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Oval 9"/>
          <p:cNvSpPr/>
          <p:nvPr/>
        </p:nvSpPr>
        <p:spPr>
          <a:xfrm>
            <a:off x="7705800" y="3381480"/>
            <a:ext cx="609120" cy="609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53" name="Picture 4"/>
          <p:cNvPicPr/>
          <p:nvPr/>
        </p:nvPicPr>
        <p:blipFill>
          <a:blip r:embed="rId1"/>
          <a:stretch/>
        </p:blipFill>
        <p:spPr>
          <a:xfrm>
            <a:off x="1736640" y="663480"/>
            <a:ext cx="5668560" cy="5527440"/>
          </a:xfrm>
          <a:prstGeom prst="rect">
            <a:avLst/>
          </a:prstGeom>
          <a:solidFill>
            <a:srgbClr val="00cc00"/>
          </a:solidFill>
          <a:ln w="12700">
            <a:noFill/>
          </a:ln>
        </p:spPr>
      </p:pic>
      <p:sp>
        <p:nvSpPr>
          <p:cNvPr id="854" name="Oval 5"/>
          <p:cNvSpPr/>
          <p:nvPr/>
        </p:nvSpPr>
        <p:spPr>
          <a:xfrm>
            <a:off x="1744560" y="107172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Oval 6"/>
          <p:cNvSpPr/>
          <p:nvPr/>
        </p:nvSpPr>
        <p:spPr>
          <a:xfrm>
            <a:off x="6918480" y="105876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Oval 7"/>
          <p:cNvSpPr/>
          <p:nvPr/>
        </p:nvSpPr>
        <p:spPr>
          <a:xfrm>
            <a:off x="5654520" y="105408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Oval 8"/>
          <p:cNvSpPr/>
          <p:nvPr/>
        </p:nvSpPr>
        <p:spPr>
          <a:xfrm>
            <a:off x="4324320" y="106380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Oval 9"/>
          <p:cNvSpPr/>
          <p:nvPr/>
        </p:nvSpPr>
        <p:spPr>
          <a:xfrm>
            <a:off x="3078000" y="105876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Oval 10"/>
          <p:cNvSpPr/>
          <p:nvPr/>
        </p:nvSpPr>
        <p:spPr>
          <a:xfrm>
            <a:off x="1751040" y="225108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Oval 11"/>
          <p:cNvSpPr/>
          <p:nvPr/>
        </p:nvSpPr>
        <p:spPr>
          <a:xfrm>
            <a:off x="6924600" y="223848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Oval 12"/>
          <p:cNvSpPr/>
          <p:nvPr/>
        </p:nvSpPr>
        <p:spPr>
          <a:xfrm>
            <a:off x="5661000" y="223344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Oval 13"/>
          <p:cNvSpPr/>
          <p:nvPr/>
        </p:nvSpPr>
        <p:spPr>
          <a:xfrm>
            <a:off x="4330800" y="224316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Oval 14"/>
          <p:cNvSpPr/>
          <p:nvPr/>
        </p:nvSpPr>
        <p:spPr>
          <a:xfrm>
            <a:off x="3084480" y="223848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Oval 15"/>
          <p:cNvSpPr/>
          <p:nvPr/>
        </p:nvSpPr>
        <p:spPr>
          <a:xfrm>
            <a:off x="1752480" y="343044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Oval 16"/>
          <p:cNvSpPr/>
          <p:nvPr/>
        </p:nvSpPr>
        <p:spPr>
          <a:xfrm>
            <a:off x="5662440" y="341316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Oval 17"/>
          <p:cNvSpPr/>
          <p:nvPr/>
        </p:nvSpPr>
        <p:spPr>
          <a:xfrm>
            <a:off x="4332240" y="342252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Oval 18"/>
          <p:cNvSpPr/>
          <p:nvPr/>
        </p:nvSpPr>
        <p:spPr>
          <a:xfrm>
            <a:off x="3086280" y="341784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Oval 19"/>
          <p:cNvSpPr/>
          <p:nvPr/>
        </p:nvSpPr>
        <p:spPr>
          <a:xfrm>
            <a:off x="1751040" y="461952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Oval 20"/>
          <p:cNvSpPr/>
          <p:nvPr/>
        </p:nvSpPr>
        <p:spPr>
          <a:xfrm>
            <a:off x="5661000" y="4602240"/>
            <a:ext cx="474480" cy="45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Oval 21"/>
          <p:cNvSpPr/>
          <p:nvPr/>
        </p:nvSpPr>
        <p:spPr>
          <a:xfrm>
            <a:off x="4330800" y="461160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Oval 22"/>
          <p:cNvSpPr/>
          <p:nvPr/>
        </p:nvSpPr>
        <p:spPr>
          <a:xfrm>
            <a:off x="3084480" y="460692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Oval 23"/>
          <p:cNvSpPr/>
          <p:nvPr/>
        </p:nvSpPr>
        <p:spPr>
          <a:xfrm>
            <a:off x="1747800" y="571500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Oval 24"/>
          <p:cNvSpPr/>
          <p:nvPr/>
        </p:nvSpPr>
        <p:spPr>
          <a:xfrm>
            <a:off x="3081240" y="5702400"/>
            <a:ext cx="474480" cy="45540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toestandsdiagrammen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76" name="Picture 4"/>
          <p:cNvPicPr/>
          <p:nvPr/>
        </p:nvPicPr>
        <p:blipFill>
          <a:blip r:embed="rId1"/>
          <a:stretch/>
        </p:blipFill>
        <p:spPr>
          <a:xfrm>
            <a:off x="1650960" y="1859040"/>
            <a:ext cx="5839920" cy="3136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77" name="Oval 5"/>
          <p:cNvSpPr/>
          <p:nvPr/>
        </p:nvSpPr>
        <p:spPr>
          <a:xfrm>
            <a:off x="1663560" y="2287440"/>
            <a:ext cx="1012320" cy="1014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Oval 6"/>
          <p:cNvSpPr/>
          <p:nvPr/>
        </p:nvSpPr>
        <p:spPr>
          <a:xfrm>
            <a:off x="3968640" y="3932280"/>
            <a:ext cx="1012320" cy="1014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Oval 7"/>
          <p:cNvSpPr/>
          <p:nvPr/>
        </p:nvSpPr>
        <p:spPr>
          <a:xfrm>
            <a:off x="4959360" y="2292480"/>
            <a:ext cx="1012320" cy="101412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resourcegraaf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82" name="Picture 4"/>
          <p:cNvPicPr/>
          <p:nvPr/>
        </p:nvPicPr>
        <p:blipFill>
          <a:blip r:embed="rId1"/>
          <a:srcRect l="0" t="0" r="70606" b="12016"/>
          <a:stretch/>
        </p:blipFill>
        <p:spPr>
          <a:xfrm>
            <a:off x="932040" y="2170080"/>
            <a:ext cx="2139480" cy="2514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3" name="Oval 5"/>
          <p:cNvSpPr/>
          <p:nvPr/>
        </p:nvSpPr>
        <p:spPr>
          <a:xfrm>
            <a:off x="958680" y="2209680"/>
            <a:ext cx="433080" cy="433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Rectangle 6"/>
          <p:cNvSpPr/>
          <p:nvPr/>
        </p:nvSpPr>
        <p:spPr>
          <a:xfrm>
            <a:off x="960480" y="4095720"/>
            <a:ext cx="439200" cy="4154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85" name="Group 7"/>
          <p:cNvGrpSpPr/>
          <p:nvPr/>
        </p:nvGrpSpPr>
        <p:grpSpPr>
          <a:xfrm>
            <a:off x="4719600" y="2170080"/>
            <a:ext cx="3490560" cy="2514240"/>
            <a:chOff x="4719600" y="2170080"/>
            <a:chExt cx="3490560" cy="2514240"/>
          </a:xfrm>
        </p:grpSpPr>
        <p:pic>
          <p:nvPicPr>
            <p:cNvPr id="886" name="Picture 8"/>
            <p:cNvPicPr/>
            <p:nvPr/>
          </p:nvPicPr>
          <p:blipFill>
            <a:blip r:embed="rId2"/>
            <a:srcRect l="52025" t="0" r="0" b="12016"/>
            <a:stretch/>
          </p:blipFill>
          <p:spPr>
            <a:xfrm>
              <a:off x="4719600" y="2170080"/>
              <a:ext cx="3490560" cy="25142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7" name="Oval 9"/>
            <p:cNvSpPr/>
            <p:nvPr/>
          </p:nvSpPr>
          <p:spPr>
            <a:xfrm>
              <a:off x="6796080" y="2217600"/>
              <a:ext cx="433080" cy="4330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8" name="Oval 10"/>
            <p:cNvSpPr/>
            <p:nvPr/>
          </p:nvSpPr>
          <p:spPr>
            <a:xfrm>
              <a:off x="6804000" y="4089240"/>
              <a:ext cx="433080" cy="4330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9" name="Rectangle 11"/>
            <p:cNvSpPr/>
            <p:nvPr/>
          </p:nvSpPr>
          <p:spPr>
            <a:xfrm>
              <a:off x="7738920" y="3139920"/>
              <a:ext cx="439200" cy="4154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0" name="Rectangle 12"/>
            <p:cNvSpPr/>
            <p:nvPr/>
          </p:nvSpPr>
          <p:spPr>
            <a:xfrm>
              <a:off x="5862600" y="3137040"/>
              <a:ext cx="439200" cy="4154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91" name="Group 13"/>
          <p:cNvGrpSpPr/>
          <p:nvPr/>
        </p:nvGrpSpPr>
        <p:grpSpPr>
          <a:xfrm>
            <a:off x="2286000" y="2170080"/>
            <a:ext cx="2138040" cy="2514240"/>
            <a:chOff x="2286000" y="2170080"/>
            <a:chExt cx="2138040" cy="2514240"/>
          </a:xfrm>
        </p:grpSpPr>
        <p:pic>
          <p:nvPicPr>
            <p:cNvPr id="892" name="Picture 14"/>
            <p:cNvPicPr/>
            <p:nvPr/>
          </p:nvPicPr>
          <p:blipFill>
            <a:blip r:embed="rId3"/>
            <a:srcRect l="18580" t="0" r="52025" b="12016"/>
            <a:stretch/>
          </p:blipFill>
          <p:spPr>
            <a:xfrm>
              <a:off x="2286000" y="2170080"/>
              <a:ext cx="2138040" cy="25142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93" name="Oval 15"/>
            <p:cNvSpPr/>
            <p:nvPr/>
          </p:nvSpPr>
          <p:spPr>
            <a:xfrm>
              <a:off x="3409920" y="4081320"/>
              <a:ext cx="433080" cy="4330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4" name="Rectangle 16"/>
            <p:cNvSpPr/>
            <p:nvPr/>
          </p:nvSpPr>
          <p:spPr>
            <a:xfrm>
              <a:off x="3394080" y="2224080"/>
              <a:ext cx="439200" cy="4154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7" dur="indefinite" restart="never" nodeType="tmRoot">
          <p:childTnLst>
            <p:seq>
              <p:cTn id="698" dur="indefinite" nodeType="mainSeq">
                <p:childTnLst>
                  <p:par>
                    <p:cTn id="699" fill="hold">
                      <p:stCondLst>
                        <p:cond delay="indefinite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resourcegraaf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897" name="Picture 4"/>
          <p:cNvPicPr/>
          <p:nvPr/>
        </p:nvPicPr>
        <p:blipFill>
          <a:blip r:embed="rId1"/>
          <a:srcRect l="1171" t="0" r="0" b="0"/>
          <a:stretch/>
        </p:blipFill>
        <p:spPr>
          <a:xfrm>
            <a:off x="2901960" y="966960"/>
            <a:ext cx="3339720" cy="4920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8" name="Oval 5"/>
          <p:cNvSpPr/>
          <p:nvPr/>
        </p:nvSpPr>
        <p:spPr>
          <a:xfrm>
            <a:off x="2892600" y="2584440"/>
            <a:ext cx="568080" cy="568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Oval 6"/>
          <p:cNvSpPr/>
          <p:nvPr/>
        </p:nvSpPr>
        <p:spPr>
          <a:xfrm>
            <a:off x="5645160" y="2570040"/>
            <a:ext cx="568080" cy="568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Oval 7"/>
          <p:cNvSpPr/>
          <p:nvPr/>
        </p:nvSpPr>
        <p:spPr>
          <a:xfrm>
            <a:off x="4264200" y="2577960"/>
            <a:ext cx="568080" cy="568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Rectangle 8"/>
          <p:cNvSpPr/>
          <p:nvPr/>
        </p:nvSpPr>
        <p:spPr>
          <a:xfrm>
            <a:off x="3505320" y="1343160"/>
            <a:ext cx="782280" cy="56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Rectangle 9"/>
          <p:cNvSpPr/>
          <p:nvPr/>
        </p:nvSpPr>
        <p:spPr>
          <a:xfrm>
            <a:off x="4869000" y="4249800"/>
            <a:ext cx="782280" cy="11012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Rectangle 10"/>
          <p:cNvSpPr/>
          <p:nvPr/>
        </p:nvSpPr>
        <p:spPr>
          <a:xfrm>
            <a:off x="3500280" y="3956040"/>
            <a:ext cx="782280" cy="83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Rectangle 11"/>
          <p:cNvSpPr/>
          <p:nvPr/>
        </p:nvSpPr>
        <p:spPr>
          <a:xfrm>
            <a:off x="4873680" y="1355760"/>
            <a:ext cx="782280" cy="56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847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voorwaarden  optreden deadlock: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resources exclusief toegewezen aan één proces, beschermd door 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99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processen houden resources 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vast en wachten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op andere resources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geen preëmptieve verwijdering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van resources mogelijk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cyclisch wachten</a:t>
            </a: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: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 gesloten keten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indent="-28584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lang="nl-NL" sz="2800" b="0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   van processen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07" name="Group 4"/>
          <p:cNvGrpSpPr/>
          <p:nvPr/>
        </p:nvGrpSpPr>
        <p:grpSpPr>
          <a:xfrm>
            <a:off x="3997440" y="4464000"/>
            <a:ext cx="5146200" cy="2293560"/>
            <a:chOff x="3997440" y="4464000"/>
            <a:chExt cx="5146200" cy="2293560"/>
          </a:xfrm>
        </p:grpSpPr>
        <p:pic>
          <p:nvPicPr>
            <p:cNvPr id="908" name="Picture 5"/>
            <p:cNvPicPr/>
            <p:nvPr/>
          </p:nvPicPr>
          <p:blipFill>
            <a:blip r:embed="rId1"/>
            <a:stretch/>
          </p:blipFill>
          <p:spPr>
            <a:xfrm>
              <a:off x="3997440" y="4464000"/>
              <a:ext cx="5146200" cy="229356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909" name="Oval 6"/>
            <p:cNvSpPr/>
            <p:nvPr/>
          </p:nvSpPr>
          <p:spPr>
            <a:xfrm>
              <a:off x="4090680" y="5307120"/>
              <a:ext cx="553320" cy="54612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0" name="Oval 7"/>
            <p:cNvSpPr/>
            <p:nvPr/>
          </p:nvSpPr>
          <p:spPr>
            <a:xfrm>
              <a:off x="8469720" y="5312880"/>
              <a:ext cx="553320" cy="54612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1" name="Rectangle 8"/>
            <p:cNvSpPr/>
            <p:nvPr/>
          </p:nvSpPr>
          <p:spPr>
            <a:xfrm>
              <a:off x="6101280" y="4592880"/>
              <a:ext cx="905400" cy="5331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2" name="Rectangle 9"/>
            <p:cNvSpPr/>
            <p:nvPr/>
          </p:nvSpPr>
          <p:spPr>
            <a:xfrm>
              <a:off x="6107400" y="6046200"/>
              <a:ext cx="905400" cy="5331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7" dur="indefinite" restart="never" nodeType="tmRoot">
          <p:childTnLst>
            <p:seq>
              <p:cTn id="708" dur="indefinite" nodeType="mainSeq">
                <p:childTnLst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3" fill="hold">
                      <p:stCondLst>
                        <p:cond delay="indefinite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roup 2"/>
          <p:cNvGrpSpPr/>
          <p:nvPr/>
        </p:nvGrpSpPr>
        <p:grpSpPr>
          <a:xfrm>
            <a:off x="1231920" y="927000"/>
            <a:ext cx="2074680" cy="2408040"/>
            <a:chOff x="1231920" y="927000"/>
            <a:chExt cx="2074680" cy="2408040"/>
          </a:xfrm>
        </p:grpSpPr>
        <p:pic>
          <p:nvPicPr>
            <p:cNvPr id="914" name="Picture 3"/>
            <p:cNvPicPr/>
            <p:nvPr/>
          </p:nvPicPr>
          <p:blipFill>
            <a:blip r:embed="rId1"/>
            <a:srcRect l="0" t="0" r="68951" b="51831"/>
            <a:stretch/>
          </p:blipFill>
          <p:spPr>
            <a:xfrm>
              <a:off x="1231920" y="927000"/>
              <a:ext cx="2074680" cy="2408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5" name="Oval 4"/>
            <p:cNvSpPr/>
            <p:nvPr/>
          </p:nvSpPr>
          <p:spPr>
            <a:xfrm>
              <a:off x="1278000" y="96984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6" name="Oval 5"/>
            <p:cNvSpPr/>
            <p:nvPr/>
          </p:nvSpPr>
          <p:spPr>
            <a:xfrm>
              <a:off x="1865160" y="9777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7" name="Oval 6"/>
            <p:cNvSpPr/>
            <p:nvPr/>
          </p:nvSpPr>
          <p:spPr>
            <a:xfrm>
              <a:off x="2463840" y="9763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8" name="Rectangle 7"/>
            <p:cNvSpPr/>
            <p:nvPr/>
          </p:nvSpPr>
          <p:spPr>
            <a:xfrm>
              <a:off x="1279440" y="19144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9" name="Rectangle 8"/>
            <p:cNvSpPr/>
            <p:nvPr/>
          </p:nvSpPr>
          <p:spPr>
            <a:xfrm>
              <a:off x="1866960" y="19112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0" name="Rectangle 9"/>
            <p:cNvSpPr/>
            <p:nvPr/>
          </p:nvSpPr>
          <p:spPr>
            <a:xfrm>
              <a:off x="2463840" y="1919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21" name="Group 10"/>
          <p:cNvGrpSpPr/>
          <p:nvPr/>
        </p:nvGrpSpPr>
        <p:grpSpPr>
          <a:xfrm>
            <a:off x="3535200" y="928800"/>
            <a:ext cx="2072880" cy="2408040"/>
            <a:chOff x="3535200" y="928800"/>
            <a:chExt cx="2072880" cy="2408040"/>
          </a:xfrm>
        </p:grpSpPr>
        <p:pic>
          <p:nvPicPr>
            <p:cNvPr id="922" name="Picture 11"/>
            <p:cNvPicPr/>
            <p:nvPr/>
          </p:nvPicPr>
          <p:blipFill>
            <a:blip r:embed="rId2"/>
            <a:srcRect l="34475" t="0" r="34475" b="51831"/>
            <a:stretch/>
          </p:blipFill>
          <p:spPr>
            <a:xfrm>
              <a:off x="3535200" y="928800"/>
              <a:ext cx="2072880" cy="2408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" name="Oval 12"/>
            <p:cNvSpPr/>
            <p:nvPr/>
          </p:nvSpPr>
          <p:spPr>
            <a:xfrm>
              <a:off x="3625920" y="9669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4" name="Oval 13"/>
            <p:cNvSpPr/>
            <p:nvPr/>
          </p:nvSpPr>
          <p:spPr>
            <a:xfrm>
              <a:off x="4213080" y="97488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5" name="Oval 14"/>
            <p:cNvSpPr/>
            <p:nvPr/>
          </p:nvSpPr>
          <p:spPr>
            <a:xfrm>
              <a:off x="4811760" y="97308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6" name="Rectangle 15"/>
            <p:cNvSpPr/>
            <p:nvPr/>
          </p:nvSpPr>
          <p:spPr>
            <a:xfrm>
              <a:off x="3627360" y="19224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7" name="Rectangle 16"/>
            <p:cNvSpPr/>
            <p:nvPr/>
          </p:nvSpPr>
          <p:spPr>
            <a:xfrm>
              <a:off x="4226040" y="1919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8" name="Rectangle 17"/>
            <p:cNvSpPr/>
            <p:nvPr/>
          </p:nvSpPr>
          <p:spPr>
            <a:xfrm>
              <a:off x="4822920" y="1927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29" name="Group 18"/>
          <p:cNvGrpSpPr/>
          <p:nvPr/>
        </p:nvGrpSpPr>
        <p:grpSpPr>
          <a:xfrm>
            <a:off x="5837400" y="928800"/>
            <a:ext cx="2074680" cy="2408040"/>
            <a:chOff x="5837400" y="928800"/>
            <a:chExt cx="2074680" cy="2408040"/>
          </a:xfrm>
        </p:grpSpPr>
        <p:pic>
          <p:nvPicPr>
            <p:cNvPr id="930" name="Picture 19"/>
            <p:cNvPicPr/>
            <p:nvPr/>
          </p:nvPicPr>
          <p:blipFill>
            <a:blip r:embed="rId3"/>
            <a:srcRect l="68951" t="0" r="0" b="51831"/>
            <a:stretch/>
          </p:blipFill>
          <p:spPr>
            <a:xfrm>
              <a:off x="5837400" y="928800"/>
              <a:ext cx="2074680" cy="2408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1" name="Oval 20"/>
            <p:cNvSpPr/>
            <p:nvPr/>
          </p:nvSpPr>
          <p:spPr>
            <a:xfrm>
              <a:off x="5987880" y="9669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2" name="Oval 21"/>
            <p:cNvSpPr/>
            <p:nvPr/>
          </p:nvSpPr>
          <p:spPr>
            <a:xfrm>
              <a:off x="6575400" y="97488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3" name="Oval 22"/>
            <p:cNvSpPr/>
            <p:nvPr/>
          </p:nvSpPr>
          <p:spPr>
            <a:xfrm>
              <a:off x="7174080" y="97308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4" name="Rectangle 23"/>
            <p:cNvSpPr/>
            <p:nvPr/>
          </p:nvSpPr>
          <p:spPr>
            <a:xfrm>
              <a:off x="5986440" y="19112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5" name="Rectangle 24"/>
            <p:cNvSpPr/>
            <p:nvPr/>
          </p:nvSpPr>
          <p:spPr>
            <a:xfrm>
              <a:off x="6585120" y="1919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6" name="Rectangle 25"/>
            <p:cNvSpPr/>
            <p:nvPr/>
          </p:nvSpPr>
          <p:spPr>
            <a:xfrm>
              <a:off x="7182000" y="19162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37" name="Group 26"/>
          <p:cNvGrpSpPr/>
          <p:nvPr/>
        </p:nvGrpSpPr>
        <p:grpSpPr>
          <a:xfrm>
            <a:off x="1231920" y="2943360"/>
            <a:ext cx="2074680" cy="2984040"/>
            <a:chOff x="1231920" y="2943360"/>
            <a:chExt cx="2074680" cy="2984040"/>
          </a:xfrm>
        </p:grpSpPr>
        <p:pic>
          <p:nvPicPr>
            <p:cNvPr id="938" name="Picture 27"/>
            <p:cNvPicPr/>
            <p:nvPr/>
          </p:nvPicPr>
          <p:blipFill>
            <a:blip r:embed="rId4"/>
            <a:srcRect l="0" t="40314" r="68951" b="0"/>
            <a:stretch/>
          </p:blipFill>
          <p:spPr>
            <a:xfrm>
              <a:off x="1231920" y="2943360"/>
              <a:ext cx="2074680" cy="2984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9" name="Oval 28"/>
            <p:cNvSpPr/>
            <p:nvPr/>
          </p:nvSpPr>
          <p:spPr>
            <a:xfrm>
              <a:off x="1285920" y="386568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0" name="Oval 29"/>
            <p:cNvSpPr/>
            <p:nvPr/>
          </p:nvSpPr>
          <p:spPr>
            <a:xfrm>
              <a:off x="1873080" y="38736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1" name="Oval 30"/>
            <p:cNvSpPr/>
            <p:nvPr/>
          </p:nvSpPr>
          <p:spPr>
            <a:xfrm>
              <a:off x="2471760" y="38718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2" name="Rectangle 31"/>
            <p:cNvSpPr/>
            <p:nvPr/>
          </p:nvSpPr>
          <p:spPr>
            <a:xfrm>
              <a:off x="1278000" y="48099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3" name="Rectangle 32"/>
            <p:cNvSpPr/>
            <p:nvPr/>
          </p:nvSpPr>
          <p:spPr>
            <a:xfrm>
              <a:off x="1865160" y="4807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4" name="Rectangle 33"/>
            <p:cNvSpPr/>
            <p:nvPr/>
          </p:nvSpPr>
          <p:spPr>
            <a:xfrm>
              <a:off x="2462040" y="48150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45" name="Group 34"/>
          <p:cNvGrpSpPr/>
          <p:nvPr/>
        </p:nvGrpSpPr>
        <p:grpSpPr>
          <a:xfrm>
            <a:off x="3535200" y="2943360"/>
            <a:ext cx="2072880" cy="2984040"/>
            <a:chOff x="3535200" y="2943360"/>
            <a:chExt cx="2072880" cy="2984040"/>
          </a:xfrm>
        </p:grpSpPr>
        <p:pic>
          <p:nvPicPr>
            <p:cNvPr id="946" name="Picture 35"/>
            <p:cNvPicPr/>
            <p:nvPr/>
          </p:nvPicPr>
          <p:blipFill>
            <a:blip r:embed="rId5"/>
            <a:srcRect l="34475" t="40314" r="34475" b="0"/>
            <a:stretch/>
          </p:blipFill>
          <p:spPr>
            <a:xfrm>
              <a:off x="3535200" y="2943360"/>
              <a:ext cx="2072880" cy="2984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47" name="Oval 36"/>
            <p:cNvSpPr/>
            <p:nvPr/>
          </p:nvSpPr>
          <p:spPr>
            <a:xfrm>
              <a:off x="3633840" y="386244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8" name="Oval 37"/>
            <p:cNvSpPr/>
            <p:nvPr/>
          </p:nvSpPr>
          <p:spPr>
            <a:xfrm>
              <a:off x="4221000" y="38703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9" name="Oval 38"/>
            <p:cNvSpPr/>
            <p:nvPr/>
          </p:nvSpPr>
          <p:spPr>
            <a:xfrm>
              <a:off x="4819680" y="38685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0" name="Rectangle 39"/>
            <p:cNvSpPr/>
            <p:nvPr/>
          </p:nvSpPr>
          <p:spPr>
            <a:xfrm>
              <a:off x="3625920" y="48182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1" name="Rectangle 40"/>
            <p:cNvSpPr/>
            <p:nvPr/>
          </p:nvSpPr>
          <p:spPr>
            <a:xfrm>
              <a:off x="4224240" y="48150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2" name="Rectangle 41"/>
            <p:cNvSpPr/>
            <p:nvPr/>
          </p:nvSpPr>
          <p:spPr>
            <a:xfrm>
              <a:off x="4821120" y="482292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53" name="Group 42"/>
          <p:cNvGrpSpPr/>
          <p:nvPr/>
        </p:nvGrpSpPr>
        <p:grpSpPr>
          <a:xfrm>
            <a:off x="5837400" y="2943360"/>
            <a:ext cx="2074680" cy="2984040"/>
            <a:chOff x="5837400" y="2943360"/>
            <a:chExt cx="2074680" cy="2984040"/>
          </a:xfrm>
        </p:grpSpPr>
        <p:pic>
          <p:nvPicPr>
            <p:cNvPr id="954" name="Picture 43"/>
            <p:cNvPicPr/>
            <p:nvPr/>
          </p:nvPicPr>
          <p:blipFill>
            <a:blip r:embed="rId6"/>
            <a:srcRect l="68951" t="40314" r="0" b="0"/>
            <a:stretch/>
          </p:blipFill>
          <p:spPr>
            <a:xfrm>
              <a:off x="5837400" y="2943360"/>
              <a:ext cx="2074680" cy="29840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5" name="Oval 44"/>
            <p:cNvSpPr/>
            <p:nvPr/>
          </p:nvSpPr>
          <p:spPr>
            <a:xfrm>
              <a:off x="5996160" y="386244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6" name="Oval 45"/>
            <p:cNvSpPr/>
            <p:nvPr/>
          </p:nvSpPr>
          <p:spPr>
            <a:xfrm>
              <a:off x="6583320" y="38703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7" name="Oval 46"/>
            <p:cNvSpPr/>
            <p:nvPr/>
          </p:nvSpPr>
          <p:spPr>
            <a:xfrm>
              <a:off x="7182000" y="38685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8" name="Rectangle 47"/>
            <p:cNvSpPr/>
            <p:nvPr/>
          </p:nvSpPr>
          <p:spPr>
            <a:xfrm>
              <a:off x="5985000" y="4807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9" name="Rectangle 48"/>
            <p:cNvSpPr/>
            <p:nvPr/>
          </p:nvSpPr>
          <p:spPr>
            <a:xfrm>
              <a:off x="6583320" y="48150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0" name="Rectangle 49"/>
            <p:cNvSpPr/>
            <p:nvPr/>
          </p:nvSpPr>
          <p:spPr>
            <a:xfrm>
              <a:off x="7191360" y="48117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1" dur="indefinite" restart="never" nodeType="tmRoot">
          <p:childTnLst>
            <p:seq>
              <p:cTn id="732" dur="indefinite" nodeType="mainSeq">
                <p:childTnLst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962" name="Picture 3"/>
          <p:cNvPicPr/>
          <p:nvPr/>
        </p:nvPicPr>
        <p:blipFill>
          <a:blip r:embed="rId1"/>
          <a:srcRect l="0" t="0" r="68951" b="51514"/>
          <a:stretch/>
        </p:blipFill>
        <p:spPr>
          <a:xfrm>
            <a:off x="1230480" y="911160"/>
            <a:ext cx="2074680" cy="2441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3" name="Oval 4"/>
          <p:cNvSpPr/>
          <p:nvPr/>
        </p:nvSpPr>
        <p:spPr>
          <a:xfrm>
            <a:off x="1278000" y="958680"/>
            <a:ext cx="41400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Oval 5"/>
          <p:cNvSpPr/>
          <p:nvPr/>
        </p:nvSpPr>
        <p:spPr>
          <a:xfrm>
            <a:off x="1865160" y="966960"/>
            <a:ext cx="41400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Oval 6"/>
          <p:cNvSpPr/>
          <p:nvPr/>
        </p:nvSpPr>
        <p:spPr>
          <a:xfrm>
            <a:off x="2463840" y="965160"/>
            <a:ext cx="41400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Rectangle 7"/>
          <p:cNvSpPr/>
          <p:nvPr/>
        </p:nvSpPr>
        <p:spPr>
          <a:xfrm>
            <a:off x="1279440" y="1903320"/>
            <a:ext cx="399600" cy="37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Rectangle 8"/>
          <p:cNvSpPr/>
          <p:nvPr/>
        </p:nvSpPr>
        <p:spPr>
          <a:xfrm>
            <a:off x="1866960" y="1900080"/>
            <a:ext cx="399600" cy="37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Rectangle 9"/>
          <p:cNvSpPr/>
          <p:nvPr/>
        </p:nvSpPr>
        <p:spPr>
          <a:xfrm>
            <a:off x="2463840" y="1908000"/>
            <a:ext cx="399600" cy="37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69" name="Group 10"/>
          <p:cNvGrpSpPr/>
          <p:nvPr/>
        </p:nvGrpSpPr>
        <p:grpSpPr>
          <a:xfrm>
            <a:off x="3533760" y="911160"/>
            <a:ext cx="2074680" cy="2441160"/>
            <a:chOff x="3533760" y="911160"/>
            <a:chExt cx="2074680" cy="2441160"/>
          </a:xfrm>
        </p:grpSpPr>
        <p:pic>
          <p:nvPicPr>
            <p:cNvPr id="970" name="Picture 11"/>
            <p:cNvPicPr/>
            <p:nvPr/>
          </p:nvPicPr>
          <p:blipFill>
            <a:blip r:embed="rId2"/>
            <a:srcRect l="34475" t="0" r="34475" b="51514"/>
            <a:stretch/>
          </p:blipFill>
          <p:spPr>
            <a:xfrm>
              <a:off x="3533760" y="911160"/>
              <a:ext cx="2074680" cy="2441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71" name="Oval 12"/>
            <p:cNvSpPr/>
            <p:nvPr/>
          </p:nvSpPr>
          <p:spPr>
            <a:xfrm>
              <a:off x="3625920" y="9558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2" name="Oval 13"/>
            <p:cNvSpPr/>
            <p:nvPr/>
          </p:nvSpPr>
          <p:spPr>
            <a:xfrm>
              <a:off x="4213080" y="9637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3" name="Oval 14"/>
            <p:cNvSpPr/>
            <p:nvPr/>
          </p:nvSpPr>
          <p:spPr>
            <a:xfrm>
              <a:off x="4811760" y="9619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4" name="Rectangle 15"/>
            <p:cNvSpPr/>
            <p:nvPr/>
          </p:nvSpPr>
          <p:spPr>
            <a:xfrm>
              <a:off x="3627360" y="1900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5" name="Rectangle 16"/>
            <p:cNvSpPr/>
            <p:nvPr/>
          </p:nvSpPr>
          <p:spPr>
            <a:xfrm>
              <a:off x="4226040" y="19080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6" name="Rectangle 17"/>
            <p:cNvSpPr/>
            <p:nvPr/>
          </p:nvSpPr>
          <p:spPr>
            <a:xfrm>
              <a:off x="4822920" y="190512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77" name="Group 18"/>
          <p:cNvGrpSpPr/>
          <p:nvPr/>
        </p:nvGrpSpPr>
        <p:grpSpPr>
          <a:xfrm>
            <a:off x="1230480" y="3503520"/>
            <a:ext cx="2074680" cy="2441160"/>
            <a:chOff x="1230480" y="3503520"/>
            <a:chExt cx="2074680" cy="2441160"/>
          </a:xfrm>
        </p:grpSpPr>
        <p:pic>
          <p:nvPicPr>
            <p:cNvPr id="978" name="Picture 19"/>
            <p:cNvPicPr/>
            <p:nvPr/>
          </p:nvPicPr>
          <p:blipFill>
            <a:blip r:embed="rId3"/>
            <a:srcRect l="0" t="51514" r="68951" b="0"/>
            <a:stretch/>
          </p:blipFill>
          <p:spPr>
            <a:xfrm>
              <a:off x="1230480" y="3503520"/>
              <a:ext cx="2074680" cy="2441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79" name="Oval 20"/>
            <p:cNvSpPr/>
            <p:nvPr/>
          </p:nvSpPr>
          <p:spPr>
            <a:xfrm>
              <a:off x="1285920" y="387684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0" name="Oval 21"/>
            <p:cNvSpPr/>
            <p:nvPr/>
          </p:nvSpPr>
          <p:spPr>
            <a:xfrm>
              <a:off x="1873080" y="38847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1" name="Oval 22"/>
            <p:cNvSpPr/>
            <p:nvPr/>
          </p:nvSpPr>
          <p:spPr>
            <a:xfrm>
              <a:off x="2471760" y="388296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2" name="Rectangle 23"/>
            <p:cNvSpPr/>
            <p:nvPr/>
          </p:nvSpPr>
          <p:spPr>
            <a:xfrm>
              <a:off x="1278000" y="482112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3" name="Rectangle 24"/>
            <p:cNvSpPr/>
            <p:nvPr/>
          </p:nvSpPr>
          <p:spPr>
            <a:xfrm>
              <a:off x="1865160" y="48182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4" name="Rectangle 25"/>
            <p:cNvSpPr/>
            <p:nvPr/>
          </p:nvSpPr>
          <p:spPr>
            <a:xfrm>
              <a:off x="2462040" y="4826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85" name="Group 26"/>
          <p:cNvGrpSpPr/>
          <p:nvPr/>
        </p:nvGrpSpPr>
        <p:grpSpPr>
          <a:xfrm>
            <a:off x="3533760" y="3503520"/>
            <a:ext cx="2074680" cy="2441160"/>
            <a:chOff x="3533760" y="3503520"/>
            <a:chExt cx="2074680" cy="2441160"/>
          </a:xfrm>
        </p:grpSpPr>
        <p:pic>
          <p:nvPicPr>
            <p:cNvPr id="986" name="Picture 27"/>
            <p:cNvPicPr/>
            <p:nvPr/>
          </p:nvPicPr>
          <p:blipFill>
            <a:blip r:embed="rId4"/>
            <a:srcRect l="34475" t="51514" r="34475" b="0"/>
            <a:stretch/>
          </p:blipFill>
          <p:spPr>
            <a:xfrm>
              <a:off x="3533760" y="3503520"/>
              <a:ext cx="2074680" cy="2441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87" name="Oval 28"/>
            <p:cNvSpPr/>
            <p:nvPr/>
          </p:nvSpPr>
          <p:spPr>
            <a:xfrm>
              <a:off x="3633840" y="38736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8" name="Oval 29"/>
            <p:cNvSpPr/>
            <p:nvPr/>
          </p:nvSpPr>
          <p:spPr>
            <a:xfrm>
              <a:off x="4221000" y="38815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9" name="Oval 30"/>
            <p:cNvSpPr/>
            <p:nvPr/>
          </p:nvSpPr>
          <p:spPr>
            <a:xfrm>
              <a:off x="4819680" y="38797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0" name="Rectangle 31"/>
            <p:cNvSpPr/>
            <p:nvPr/>
          </p:nvSpPr>
          <p:spPr>
            <a:xfrm>
              <a:off x="3625920" y="48290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1" name="Rectangle 32"/>
            <p:cNvSpPr/>
            <p:nvPr/>
          </p:nvSpPr>
          <p:spPr>
            <a:xfrm>
              <a:off x="4224240" y="4826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2" name="Rectangle 33"/>
            <p:cNvSpPr/>
            <p:nvPr/>
          </p:nvSpPr>
          <p:spPr>
            <a:xfrm>
              <a:off x="4821120" y="4834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93" name="Group 34"/>
          <p:cNvGrpSpPr/>
          <p:nvPr/>
        </p:nvGrpSpPr>
        <p:grpSpPr>
          <a:xfrm>
            <a:off x="5838840" y="3503520"/>
            <a:ext cx="2074680" cy="2441160"/>
            <a:chOff x="5838840" y="3503520"/>
            <a:chExt cx="2074680" cy="2441160"/>
          </a:xfrm>
        </p:grpSpPr>
        <p:pic>
          <p:nvPicPr>
            <p:cNvPr id="994" name="Picture 35"/>
            <p:cNvPicPr/>
            <p:nvPr/>
          </p:nvPicPr>
          <p:blipFill>
            <a:blip r:embed="rId5"/>
            <a:srcRect l="68951" t="51514" r="0" b="0"/>
            <a:stretch/>
          </p:blipFill>
          <p:spPr>
            <a:xfrm>
              <a:off x="5838840" y="3503520"/>
              <a:ext cx="2074680" cy="2441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95" name="Oval 36"/>
            <p:cNvSpPr/>
            <p:nvPr/>
          </p:nvSpPr>
          <p:spPr>
            <a:xfrm>
              <a:off x="5996160" y="38736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6" name="Oval 37"/>
            <p:cNvSpPr/>
            <p:nvPr/>
          </p:nvSpPr>
          <p:spPr>
            <a:xfrm>
              <a:off x="6583320" y="38815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7" name="Oval 38"/>
            <p:cNvSpPr/>
            <p:nvPr/>
          </p:nvSpPr>
          <p:spPr>
            <a:xfrm>
              <a:off x="7182000" y="38797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8" name="Rectangle 39"/>
            <p:cNvSpPr/>
            <p:nvPr/>
          </p:nvSpPr>
          <p:spPr>
            <a:xfrm>
              <a:off x="5985000" y="481824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9" name="Rectangle 40"/>
            <p:cNvSpPr/>
            <p:nvPr/>
          </p:nvSpPr>
          <p:spPr>
            <a:xfrm>
              <a:off x="6583320" y="482616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0" name="Rectangle 41"/>
            <p:cNvSpPr/>
            <p:nvPr/>
          </p:nvSpPr>
          <p:spPr>
            <a:xfrm>
              <a:off x="7191360" y="482292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01" name="Group 42"/>
          <p:cNvGrpSpPr/>
          <p:nvPr/>
        </p:nvGrpSpPr>
        <p:grpSpPr>
          <a:xfrm>
            <a:off x="5568840" y="909720"/>
            <a:ext cx="2333160" cy="2441160"/>
            <a:chOff x="5568840" y="909720"/>
            <a:chExt cx="2333160" cy="2441160"/>
          </a:xfrm>
        </p:grpSpPr>
        <p:pic>
          <p:nvPicPr>
            <p:cNvPr id="1002" name="Picture 43"/>
            <p:cNvPicPr/>
            <p:nvPr/>
          </p:nvPicPr>
          <p:blipFill>
            <a:blip r:embed="rId6"/>
            <a:srcRect l="64977" t="0" r="0" b="51514"/>
            <a:stretch/>
          </p:blipFill>
          <p:spPr>
            <a:xfrm>
              <a:off x="5568840" y="909720"/>
              <a:ext cx="2333160" cy="2441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03" name="Oval 44"/>
            <p:cNvSpPr/>
            <p:nvPr/>
          </p:nvSpPr>
          <p:spPr>
            <a:xfrm>
              <a:off x="5987880" y="95580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4" name="Oval 45"/>
            <p:cNvSpPr/>
            <p:nvPr/>
          </p:nvSpPr>
          <p:spPr>
            <a:xfrm>
              <a:off x="6575400" y="9637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5" name="Oval 46"/>
            <p:cNvSpPr/>
            <p:nvPr/>
          </p:nvSpPr>
          <p:spPr>
            <a:xfrm>
              <a:off x="7174080" y="961920"/>
              <a:ext cx="41400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6" name="Rectangle 47"/>
            <p:cNvSpPr/>
            <p:nvPr/>
          </p:nvSpPr>
          <p:spPr>
            <a:xfrm>
              <a:off x="5986440" y="190008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7" name="Rectangle 48"/>
            <p:cNvSpPr/>
            <p:nvPr/>
          </p:nvSpPr>
          <p:spPr>
            <a:xfrm>
              <a:off x="6585120" y="190800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8" name="Rectangle 49"/>
            <p:cNvSpPr/>
            <p:nvPr/>
          </p:nvSpPr>
          <p:spPr>
            <a:xfrm>
              <a:off x="7182000" y="1905120"/>
              <a:ext cx="399600" cy="3758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1009" name="Picture 50"/>
            <p:cNvPicPr/>
            <p:nvPr/>
          </p:nvPicPr>
          <p:blipFill>
            <a:blip r:embed="rId7"/>
            <a:stretch/>
          </p:blipFill>
          <p:spPr>
            <a:xfrm>
              <a:off x="7315200" y="1360440"/>
              <a:ext cx="126720" cy="52668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3" dur="indefinite" restart="never" nodeType="tmRoot">
          <p:childTnLst>
            <p:seq>
              <p:cTn id="754" dur="indefinite" nodeType="mainSeq">
                <p:childTnLst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339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deadlock strategieën: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detecteren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en opheffen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vermijden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door aanvragen van bronnen te analyseren en eventueel te weigeren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onmogelijk maken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door één van de vier noodzakelijke voorwaarden uit te sluiten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kans op deadlocks minimaliseren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5" dur="indefinite" restart="never" nodeType="tmRoot">
          <p:childTnLst>
            <p:seq>
              <p:cTn id="776" dur="indefinite" nodeType="mainSeq">
                <p:childTnLst>
                  <p:par>
                    <p:cTn id="777" fill="hold">
                      <p:stCondLst>
                        <p:cond delay="indefinite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wacht-op-graaf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4" name="Picture 4"/>
          <p:cNvPicPr/>
          <p:nvPr/>
        </p:nvPicPr>
        <p:blipFill>
          <a:blip r:embed="rId1"/>
          <a:srcRect l="0" t="0" r="48915" b="7514"/>
          <a:stretch/>
        </p:blipFill>
        <p:spPr>
          <a:xfrm>
            <a:off x="1046160" y="1305000"/>
            <a:ext cx="3601800" cy="4244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5" name="Oval 5"/>
          <p:cNvSpPr/>
          <p:nvPr/>
        </p:nvSpPr>
        <p:spPr>
          <a:xfrm>
            <a:off x="2486160" y="1328760"/>
            <a:ext cx="44424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Oval 6"/>
          <p:cNvSpPr/>
          <p:nvPr/>
        </p:nvSpPr>
        <p:spPr>
          <a:xfrm>
            <a:off x="2484360" y="4743360"/>
            <a:ext cx="44424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Oval 7"/>
          <p:cNvSpPr/>
          <p:nvPr/>
        </p:nvSpPr>
        <p:spPr>
          <a:xfrm>
            <a:off x="3765600" y="3611520"/>
            <a:ext cx="44424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Oval 8"/>
          <p:cNvSpPr/>
          <p:nvPr/>
        </p:nvSpPr>
        <p:spPr>
          <a:xfrm>
            <a:off x="2487600" y="3608280"/>
            <a:ext cx="44424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Oval 9"/>
          <p:cNvSpPr/>
          <p:nvPr/>
        </p:nvSpPr>
        <p:spPr>
          <a:xfrm>
            <a:off x="1065240" y="3605040"/>
            <a:ext cx="444240" cy="41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20" name="Group 10"/>
          <p:cNvGrpSpPr/>
          <p:nvPr/>
        </p:nvGrpSpPr>
        <p:grpSpPr>
          <a:xfrm>
            <a:off x="5356080" y="1305000"/>
            <a:ext cx="2739600" cy="4244760"/>
            <a:chOff x="5356080" y="1305000"/>
            <a:chExt cx="2739600" cy="4244760"/>
          </a:xfrm>
        </p:grpSpPr>
        <p:pic>
          <p:nvPicPr>
            <p:cNvPr id="1021" name="Picture 11"/>
            <p:cNvPicPr/>
            <p:nvPr/>
          </p:nvPicPr>
          <p:blipFill>
            <a:blip r:embed="rId2"/>
            <a:srcRect l="61143" t="0" r="0" b="7514"/>
            <a:stretch/>
          </p:blipFill>
          <p:spPr>
            <a:xfrm>
              <a:off x="5356080" y="1305000"/>
              <a:ext cx="2739600" cy="42447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2" name="Oval 12"/>
            <p:cNvSpPr/>
            <p:nvPr/>
          </p:nvSpPr>
          <p:spPr>
            <a:xfrm>
              <a:off x="6540480" y="2846520"/>
              <a:ext cx="44424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3" name="Oval 13"/>
            <p:cNvSpPr/>
            <p:nvPr/>
          </p:nvSpPr>
          <p:spPr>
            <a:xfrm>
              <a:off x="6558120" y="4997520"/>
              <a:ext cx="44424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4" name="Oval 14"/>
            <p:cNvSpPr/>
            <p:nvPr/>
          </p:nvSpPr>
          <p:spPr>
            <a:xfrm>
              <a:off x="7621560" y="3917880"/>
              <a:ext cx="44424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5" name="Oval 15"/>
            <p:cNvSpPr/>
            <p:nvPr/>
          </p:nvSpPr>
          <p:spPr>
            <a:xfrm>
              <a:off x="6541920" y="3914640"/>
              <a:ext cx="44424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6" name="Oval 16"/>
            <p:cNvSpPr/>
            <p:nvPr/>
          </p:nvSpPr>
          <p:spPr>
            <a:xfrm>
              <a:off x="5473800" y="3922560"/>
              <a:ext cx="444240" cy="41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27" name="Rectangle 17"/>
          <p:cNvSpPr/>
          <p:nvPr/>
        </p:nvSpPr>
        <p:spPr>
          <a:xfrm>
            <a:off x="1074600" y="2349360"/>
            <a:ext cx="420480" cy="4075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Rectangle 18"/>
          <p:cNvSpPr/>
          <p:nvPr/>
        </p:nvSpPr>
        <p:spPr>
          <a:xfrm>
            <a:off x="3773520" y="4737240"/>
            <a:ext cx="420480" cy="4075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Rectangle 19"/>
          <p:cNvSpPr/>
          <p:nvPr/>
        </p:nvSpPr>
        <p:spPr>
          <a:xfrm>
            <a:off x="1069920" y="4726080"/>
            <a:ext cx="420480" cy="4075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Rectangle 20"/>
          <p:cNvSpPr/>
          <p:nvPr/>
        </p:nvSpPr>
        <p:spPr>
          <a:xfrm>
            <a:off x="3780000" y="2351160"/>
            <a:ext cx="420480" cy="4075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Rectangle 21"/>
          <p:cNvSpPr/>
          <p:nvPr/>
        </p:nvSpPr>
        <p:spPr>
          <a:xfrm>
            <a:off x="2481120" y="2347920"/>
            <a:ext cx="420480" cy="4075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3" dur="indefinite" restart="never" nodeType="tmRoot">
          <p:childTnLst>
            <p:seq>
              <p:cTn id="794" dur="indefinite" nodeType="mainSeq">
                <p:childTnLst>
                  <p:par>
                    <p:cTn id="795" fill="hold">
                      <p:stCondLst>
                        <p:cond delay="indefinite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4" name="Picture 4"/>
          <p:cNvPicPr/>
          <p:nvPr/>
        </p:nvPicPr>
        <p:blipFill>
          <a:blip r:embed="rId1"/>
          <a:stretch/>
        </p:blipFill>
        <p:spPr>
          <a:xfrm>
            <a:off x="2873520" y="949320"/>
            <a:ext cx="3393720" cy="495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5" name="Oval 5"/>
          <p:cNvSpPr/>
          <p:nvPr/>
        </p:nvSpPr>
        <p:spPr>
          <a:xfrm>
            <a:off x="2886120" y="2608200"/>
            <a:ext cx="579240" cy="55836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Oval 6"/>
          <p:cNvSpPr/>
          <p:nvPr/>
        </p:nvSpPr>
        <p:spPr>
          <a:xfrm>
            <a:off x="4270320" y="2604960"/>
            <a:ext cx="579240" cy="55836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Oval 7"/>
          <p:cNvSpPr/>
          <p:nvPr/>
        </p:nvSpPr>
        <p:spPr>
          <a:xfrm>
            <a:off x="5654520" y="2602080"/>
            <a:ext cx="579240" cy="55836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Rectangle 8"/>
          <p:cNvSpPr/>
          <p:nvPr/>
        </p:nvSpPr>
        <p:spPr>
          <a:xfrm>
            <a:off x="3505320" y="1353960"/>
            <a:ext cx="782280" cy="56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Rectangle 9"/>
          <p:cNvSpPr/>
          <p:nvPr/>
        </p:nvSpPr>
        <p:spPr>
          <a:xfrm>
            <a:off x="4879800" y="4262400"/>
            <a:ext cx="782280" cy="11221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Rectangle 10"/>
          <p:cNvSpPr/>
          <p:nvPr/>
        </p:nvSpPr>
        <p:spPr>
          <a:xfrm>
            <a:off x="3511440" y="3978360"/>
            <a:ext cx="782280" cy="83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Rectangle 11"/>
          <p:cNvSpPr/>
          <p:nvPr/>
        </p:nvSpPr>
        <p:spPr>
          <a:xfrm>
            <a:off x="4884840" y="1366920"/>
            <a:ext cx="782280" cy="56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99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044" name="Picture 4"/>
          <p:cNvPicPr/>
          <p:nvPr/>
        </p:nvPicPr>
        <p:blipFill>
          <a:blip r:embed="rId1"/>
          <a:stretch/>
        </p:blipFill>
        <p:spPr>
          <a:xfrm>
            <a:off x="2522520" y="822240"/>
            <a:ext cx="4098600" cy="5211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5" name="Oval 5"/>
          <p:cNvSpPr/>
          <p:nvPr/>
        </p:nvSpPr>
        <p:spPr>
          <a:xfrm>
            <a:off x="2544840" y="3106800"/>
            <a:ext cx="631440" cy="622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Oval 6"/>
          <p:cNvSpPr/>
          <p:nvPr/>
        </p:nvSpPr>
        <p:spPr>
          <a:xfrm>
            <a:off x="5958000" y="5361120"/>
            <a:ext cx="631440" cy="622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Oval 7"/>
          <p:cNvSpPr/>
          <p:nvPr/>
        </p:nvSpPr>
        <p:spPr>
          <a:xfrm>
            <a:off x="5965920" y="2438280"/>
            <a:ext cx="631440" cy="622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Oval 8"/>
          <p:cNvSpPr/>
          <p:nvPr/>
        </p:nvSpPr>
        <p:spPr>
          <a:xfrm>
            <a:off x="5964120" y="852480"/>
            <a:ext cx="631440" cy="6220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Rectangle 9"/>
          <p:cNvSpPr/>
          <p:nvPr/>
        </p:nvSpPr>
        <p:spPr>
          <a:xfrm>
            <a:off x="3978360" y="1684440"/>
            <a:ext cx="844200" cy="89496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Rectangle 10"/>
          <p:cNvSpPr/>
          <p:nvPr/>
        </p:nvSpPr>
        <p:spPr>
          <a:xfrm>
            <a:off x="3986280" y="4538520"/>
            <a:ext cx="844200" cy="9154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graaf reductie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3" name="Picture 4"/>
          <p:cNvPicPr/>
          <p:nvPr/>
        </p:nvPicPr>
        <p:blipFill>
          <a:blip r:embed="rId1"/>
          <a:stretch/>
        </p:blipFill>
        <p:spPr>
          <a:xfrm>
            <a:off x="2779560" y="1166760"/>
            <a:ext cx="3584160" cy="45208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54" name="Oval 5"/>
          <p:cNvSpPr/>
          <p:nvPr/>
        </p:nvSpPr>
        <p:spPr>
          <a:xfrm>
            <a:off x="4160880" y="1243080"/>
            <a:ext cx="684000" cy="65376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Oval 6"/>
          <p:cNvSpPr/>
          <p:nvPr/>
        </p:nvSpPr>
        <p:spPr>
          <a:xfrm>
            <a:off x="5607000" y="3881520"/>
            <a:ext cx="684000" cy="65376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Oval 7"/>
          <p:cNvSpPr/>
          <p:nvPr/>
        </p:nvSpPr>
        <p:spPr>
          <a:xfrm>
            <a:off x="2851200" y="3745080"/>
            <a:ext cx="684000" cy="6649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Rectangle 8"/>
          <p:cNvSpPr/>
          <p:nvPr/>
        </p:nvSpPr>
        <p:spPr>
          <a:xfrm>
            <a:off x="2860560" y="2295360"/>
            <a:ext cx="649080" cy="64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Rectangle 9"/>
          <p:cNvSpPr/>
          <p:nvPr/>
        </p:nvSpPr>
        <p:spPr>
          <a:xfrm>
            <a:off x="4183200" y="4933800"/>
            <a:ext cx="649080" cy="64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Rectangle 10"/>
          <p:cNvSpPr/>
          <p:nvPr/>
        </p:nvSpPr>
        <p:spPr>
          <a:xfrm>
            <a:off x="5629320" y="2300400"/>
            <a:ext cx="649080" cy="645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Picture 2"/>
          <p:cNvPicPr/>
          <p:nvPr/>
        </p:nvPicPr>
        <p:blipFill>
          <a:blip r:embed="rId1"/>
          <a:stretch/>
        </p:blipFill>
        <p:spPr>
          <a:xfrm>
            <a:off x="2414520" y="930240"/>
            <a:ext cx="1872720" cy="23648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61" name="PlaceHolder 1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Oval 4"/>
          <p:cNvSpPr/>
          <p:nvPr/>
        </p:nvSpPr>
        <p:spPr>
          <a:xfrm>
            <a:off x="3135240" y="952560"/>
            <a:ext cx="352080" cy="3632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Oval 5"/>
          <p:cNvSpPr/>
          <p:nvPr/>
        </p:nvSpPr>
        <p:spPr>
          <a:xfrm>
            <a:off x="3898800" y="2336760"/>
            <a:ext cx="352080" cy="3632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Oval 6"/>
          <p:cNvSpPr/>
          <p:nvPr/>
        </p:nvSpPr>
        <p:spPr>
          <a:xfrm>
            <a:off x="2446200" y="2273400"/>
            <a:ext cx="352080" cy="3632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65" name="Group 7"/>
          <p:cNvGrpSpPr/>
          <p:nvPr/>
        </p:nvGrpSpPr>
        <p:grpSpPr>
          <a:xfrm>
            <a:off x="2414520" y="930240"/>
            <a:ext cx="4317840" cy="2653920"/>
            <a:chOff x="2414520" y="930240"/>
            <a:chExt cx="4317840" cy="2653920"/>
          </a:xfrm>
        </p:grpSpPr>
        <p:grpSp>
          <p:nvGrpSpPr>
            <p:cNvPr id="1066" name="Group 8"/>
            <p:cNvGrpSpPr/>
            <p:nvPr/>
          </p:nvGrpSpPr>
          <p:grpSpPr>
            <a:xfrm>
              <a:off x="2414520" y="930240"/>
              <a:ext cx="4317840" cy="24840"/>
              <a:chOff x="2414520" y="930240"/>
              <a:chExt cx="4317840" cy="24840"/>
            </a:xfrm>
          </p:grpSpPr>
          <p:pic>
            <p:nvPicPr>
              <p:cNvPr id="1067" name="Picture 9"/>
              <p:cNvPicPr/>
              <p:nvPr/>
            </p:nvPicPr>
            <p:blipFill>
              <a:blip r:embed="rId2"/>
              <a:srcRect l="0" t="0" r="0" b="99236"/>
              <a:stretch/>
            </p:blipFill>
            <p:spPr>
              <a:xfrm>
                <a:off x="2414520" y="930240"/>
                <a:ext cx="187272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1068" name="Picture 10"/>
              <p:cNvPicPr/>
              <p:nvPr/>
            </p:nvPicPr>
            <p:blipFill>
              <a:blip r:embed="rId3"/>
              <a:srcRect l="0" t="0" r="0" b="99235"/>
              <a:stretch/>
            </p:blipFill>
            <p:spPr>
              <a:xfrm>
                <a:off x="4859640" y="937800"/>
                <a:ext cx="187272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</p:grpSp>
        <p:grpSp>
          <p:nvGrpSpPr>
            <p:cNvPr id="1069" name="Group 11"/>
            <p:cNvGrpSpPr/>
            <p:nvPr/>
          </p:nvGrpSpPr>
          <p:grpSpPr>
            <a:xfrm>
              <a:off x="2424600" y="3562560"/>
              <a:ext cx="4303080" cy="21600"/>
              <a:chOff x="2424600" y="3562560"/>
              <a:chExt cx="4303080" cy="21600"/>
            </a:xfrm>
          </p:grpSpPr>
          <p:pic>
            <p:nvPicPr>
              <p:cNvPr id="1070" name="Picture 12"/>
              <p:cNvPicPr/>
              <p:nvPr/>
            </p:nvPicPr>
            <p:blipFill>
              <a:blip r:embed="rId4"/>
              <a:srcRect l="0" t="0" r="0" b="99233"/>
              <a:stretch/>
            </p:blipFill>
            <p:spPr>
              <a:xfrm>
                <a:off x="2424600" y="3562560"/>
                <a:ext cx="186948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1071" name="Picture 13"/>
              <p:cNvPicPr/>
              <p:nvPr/>
            </p:nvPicPr>
            <p:blipFill>
              <a:blip r:embed="rId5"/>
              <a:srcRect l="0" t="0" r="0" b="99232"/>
              <a:stretch/>
            </p:blipFill>
            <p:spPr>
              <a:xfrm>
                <a:off x="4858200" y="3566880"/>
                <a:ext cx="186948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</p:grpSp>
      </p:grpSp>
      <p:sp>
        <p:nvSpPr>
          <p:cNvPr id="1072" name="Rectangle 14"/>
          <p:cNvSpPr/>
          <p:nvPr/>
        </p:nvSpPr>
        <p:spPr>
          <a:xfrm>
            <a:off x="2446200" y="1508040"/>
            <a:ext cx="347400" cy="3553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Rectangle 15"/>
          <p:cNvSpPr/>
          <p:nvPr/>
        </p:nvSpPr>
        <p:spPr>
          <a:xfrm>
            <a:off x="3137040" y="2903400"/>
            <a:ext cx="347400" cy="3553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Rectangle 16"/>
          <p:cNvSpPr/>
          <p:nvPr/>
        </p:nvSpPr>
        <p:spPr>
          <a:xfrm>
            <a:off x="3900600" y="1512720"/>
            <a:ext cx="347400" cy="35532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75" name="Group 17"/>
          <p:cNvGrpSpPr/>
          <p:nvPr/>
        </p:nvGrpSpPr>
        <p:grpSpPr>
          <a:xfrm>
            <a:off x="4859280" y="938160"/>
            <a:ext cx="1872720" cy="2361960"/>
            <a:chOff x="4859280" y="938160"/>
            <a:chExt cx="1872720" cy="2361960"/>
          </a:xfrm>
        </p:grpSpPr>
        <p:pic>
          <p:nvPicPr>
            <p:cNvPr id="1076" name="Picture 18"/>
            <p:cNvPicPr/>
            <p:nvPr/>
          </p:nvPicPr>
          <p:blipFill>
            <a:blip r:embed="rId6"/>
            <a:stretch/>
          </p:blipFill>
          <p:spPr>
            <a:xfrm>
              <a:off x="4859280" y="938160"/>
              <a:ext cx="1872720" cy="236196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1077" name="Oval 19"/>
            <p:cNvSpPr/>
            <p:nvPr/>
          </p:nvSpPr>
          <p:spPr>
            <a:xfrm>
              <a:off x="5575320" y="96984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8" name="Oval 20"/>
            <p:cNvSpPr/>
            <p:nvPr/>
          </p:nvSpPr>
          <p:spPr>
            <a:xfrm>
              <a:off x="6338880" y="235440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9" name="Oval 21"/>
            <p:cNvSpPr/>
            <p:nvPr/>
          </p:nvSpPr>
          <p:spPr>
            <a:xfrm>
              <a:off x="4886280" y="229068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0" name="Rectangle 22"/>
            <p:cNvSpPr/>
            <p:nvPr/>
          </p:nvSpPr>
          <p:spPr>
            <a:xfrm>
              <a:off x="4886280" y="152568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1" name="Rectangle 23"/>
            <p:cNvSpPr/>
            <p:nvPr/>
          </p:nvSpPr>
          <p:spPr>
            <a:xfrm>
              <a:off x="5576760" y="292104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2" name="Rectangle 24"/>
            <p:cNvSpPr/>
            <p:nvPr/>
          </p:nvSpPr>
          <p:spPr>
            <a:xfrm>
              <a:off x="6351480" y="151920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83" name="Group 25"/>
          <p:cNvGrpSpPr/>
          <p:nvPr/>
        </p:nvGrpSpPr>
        <p:grpSpPr>
          <a:xfrm>
            <a:off x="2424240" y="3562200"/>
            <a:ext cx="1869840" cy="2363400"/>
            <a:chOff x="2424240" y="3562200"/>
            <a:chExt cx="1869840" cy="2363400"/>
          </a:xfrm>
        </p:grpSpPr>
        <p:pic>
          <p:nvPicPr>
            <p:cNvPr id="1084" name="Picture 26"/>
            <p:cNvPicPr/>
            <p:nvPr/>
          </p:nvPicPr>
          <p:blipFill>
            <a:blip r:embed="rId7"/>
            <a:stretch/>
          </p:blipFill>
          <p:spPr>
            <a:xfrm>
              <a:off x="2424240" y="3562200"/>
              <a:ext cx="1869840" cy="23634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1085" name="Oval 27"/>
            <p:cNvSpPr/>
            <p:nvPr/>
          </p:nvSpPr>
          <p:spPr>
            <a:xfrm>
              <a:off x="3143160" y="357984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6" name="Oval 28"/>
            <p:cNvSpPr/>
            <p:nvPr/>
          </p:nvSpPr>
          <p:spPr>
            <a:xfrm>
              <a:off x="3906720" y="496404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7" name="Oval 29"/>
            <p:cNvSpPr/>
            <p:nvPr/>
          </p:nvSpPr>
          <p:spPr>
            <a:xfrm>
              <a:off x="2454120" y="490068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8" name="Rectangle 30"/>
            <p:cNvSpPr/>
            <p:nvPr/>
          </p:nvSpPr>
          <p:spPr>
            <a:xfrm>
              <a:off x="2441520" y="413388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9" name="Rectangle 31"/>
            <p:cNvSpPr/>
            <p:nvPr/>
          </p:nvSpPr>
          <p:spPr>
            <a:xfrm>
              <a:off x="3143160" y="552924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0" name="Rectangle 32"/>
            <p:cNvSpPr/>
            <p:nvPr/>
          </p:nvSpPr>
          <p:spPr>
            <a:xfrm>
              <a:off x="3906720" y="413856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91" name="Group 33"/>
          <p:cNvGrpSpPr/>
          <p:nvPr/>
        </p:nvGrpSpPr>
        <p:grpSpPr>
          <a:xfrm>
            <a:off x="4857840" y="3567240"/>
            <a:ext cx="1869840" cy="2358720"/>
            <a:chOff x="4857840" y="3567240"/>
            <a:chExt cx="1869840" cy="2358720"/>
          </a:xfrm>
        </p:grpSpPr>
        <p:pic>
          <p:nvPicPr>
            <p:cNvPr id="1092" name="Picture 34"/>
            <p:cNvPicPr/>
            <p:nvPr/>
          </p:nvPicPr>
          <p:blipFill>
            <a:blip r:embed="rId8"/>
            <a:stretch/>
          </p:blipFill>
          <p:spPr>
            <a:xfrm>
              <a:off x="4857840" y="3567240"/>
              <a:ext cx="1869840" cy="235872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1093" name="Oval 35"/>
            <p:cNvSpPr/>
            <p:nvPr/>
          </p:nvSpPr>
          <p:spPr>
            <a:xfrm>
              <a:off x="5565600" y="358920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4" name="Oval 36"/>
            <p:cNvSpPr/>
            <p:nvPr/>
          </p:nvSpPr>
          <p:spPr>
            <a:xfrm>
              <a:off x="6329520" y="497376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5" name="Oval 37"/>
            <p:cNvSpPr/>
            <p:nvPr/>
          </p:nvSpPr>
          <p:spPr>
            <a:xfrm>
              <a:off x="4876920" y="4910040"/>
              <a:ext cx="352080" cy="3632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6" name="Rectangle 38"/>
            <p:cNvSpPr/>
            <p:nvPr/>
          </p:nvSpPr>
          <p:spPr>
            <a:xfrm>
              <a:off x="4876920" y="414648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7" name="Rectangle 39"/>
            <p:cNvSpPr/>
            <p:nvPr/>
          </p:nvSpPr>
          <p:spPr>
            <a:xfrm>
              <a:off x="5567400" y="554184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8" name="Rectangle 40"/>
            <p:cNvSpPr/>
            <p:nvPr/>
          </p:nvSpPr>
          <p:spPr>
            <a:xfrm>
              <a:off x="6342120" y="4151160"/>
              <a:ext cx="347400" cy="3553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99" name="Group 41"/>
          <p:cNvGrpSpPr/>
          <p:nvPr/>
        </p:nvGrpSpPr>
        <p:grpSpPr>
          <a:xfrm>
            <a:off x="2416320" y="3278160"/>
            <a:ext cx="4317480" cy="2647800"/>
            <a:chOff x="2416320" y="3278160"/>
            <a:chExt cx="4317480" cy="2647800"/>
          </a:xfrm>
        </p:grpSpPr>
        <p:grpSp>
          <p:nvGrpSpPr>
            <p:cNvPr id="1100" name="Group 42"/>
            <p:cNvGrpSpPr/>
            <p:nvPr/>
          </p:nvGrpSpPr>
          <p:grpSpPr>
            <a:xfrm>
              <a:off x="2416320" y="3278160"/>
              <a:ext cx="4317480" cy="22680"/>
              <a:chOff x="2416320" y="3278160"/>
              <a:chExt cx="4317480" cy="22680"/>
            </a:xfrm>
          </p:grpSpPr>
          <p:pic>
            <p:nvPicPr>
              <p:cNvPr id="1101" name="Picture 43"/>
              <p:cNvPicPr/>
              <p:nvPr/>
            </p:nvPicPr>
            <p:blipFill>
              <a:blip r:embed="rId9"/>
              <a:srcRect l="0" t="99236" r="0" b="0"/>
              <a:stretch/>
            </p:blipFill>
            <p:spPr>
              <a:xfrm>
                <a:off x="2416320" y="3278160"/>
                <a:ext cx="187272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1102" name="Picture 44"/>
              <p:cNvPicPr/>
              <p:nvPr/>
            </p:nvPicPr>
            <p:blipFill>
              <a:blip r:embed="rId10"/>
              <a:srcRect l="0" t="99235" r="0" b="0"/>
              <a:stretch/>
            </p:blipFill>
            <p:spPr>
              <a:xfrm>
                <a:off x="4861080" y="3283560"/>
                <a:ext cx="187272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</p:grpSp>
        <p:grpSp>
          <p:nvGrpSpPr>
            <p:cNvPr id="1103" name="Group 45"/>
            <p:cNvGrpSpPr/>
            <p:nvPr/>
          </p:nvGrpSpPr>
          <p:grpSpPr>
            <a:xfrm>
              <a:off x="2426040" y="5908680"/>
              <a:ext cx="4303080" cy="17280"/>
              <a:chOff x="2426040" y="5908680"/>
              <a:chExt cx="4303080" cy="17280"/>
            </a:xfrm>
          </p:grpSpPr>
          <p:pic>
            <p:nvPicPr>
              <p:cNvPr id="1104" name="Picture 46"/>
              <p:cNvPicPr/>
              <p:nvPr/>
            </p:nvPicPr>
            <p:blipFill>
              <a:blip r:embed="rId11"/>
              <a:srcRect l="0" t="99233" r="0" b="0"/>
              <a:stretch/>
            </p:blipFill>
            <p:spPr>
              <a:xfrm>
                <a:off x="2426040" y="5908680"/>
                <a:ext cx="186948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1105" name="Picture 47"/>
              <p:cNvPicPr/>
              <p:nvPr/>
            </p:nvPicPr>
            <p:blipFill>
              <a:blip r:embed="rId12"/>
              <a:srcRect l="0" t="99232" r="0" b="0"/>
              <a:stretch/>
            </p:blipFill>
            <p:spPr>
              <a:xfrm>
                <a:off x="4859640" y="5908680"/>
                <a:ext cx="1869480" cy="17280"/>
              </a:xfrm>
              <a:prstGeom prst="rect">
                <a:avLst/>
              </a:prstGeom>
              <a:noFill/>
              <a:ln w="12700">
                <a:noFill/>
              </a:ln>
            </p:spPr>
          </p:pic>
        </p:grpSp>
      </p:grpSp>
      <p:sp>
        <p:nvSpPr>
          <p:cNvPr id="1106" name="PlaceHolder 2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graaf reductie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1" dur="indefinite" restart="never" nodeType="tmRoot">
          <p:childTnLst>
            <p:seq>
              <p:cTn id="802" dur="indefinite" nodeType="mainSeq">
                <p:childTnLst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indefinite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9" name="Picture 4"/>
          <p:cNvPicPr/>
          <p:nvPr/>
        </p:nvPicPr>
        <p:blipFill>
          <a:blip r:embed="rId1"/>
          <a:stretch/>
        </p:blipFill>
        <p:spPr>
          <a:xfrm>
            <a:off x="414360" y="1533600"/>
            <a:ext cx="8311680" cy="378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0" name="Rectangle 5"/>
          <p:cNvSpPr/>
          <p:nvPr/>
        </p:nvSpPr>
        <p:spPr>
          <a:xfrm>
            <a:off x="1265400" y="3759120"/>
            <a:ext cx="704520" cy="15109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Rectangle 6"/>
          <p:cNvSpPr/>
          <p:nvPr/>
        </p:nvSpPr>
        <p:spPr>
          <a:xfrm>
            <a:off x="1262160" y="2233440"/>
            <a:ext cx="704520" cy="4140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Rectangle 7"/>
          <p:cNvSpPr/>
          <p:nvPr/>
        </p:nvSpPr>
        <p:spPr>
          <a:xfrm>
            <a:off x="5737320" y="2241720"/>
            <a:ext cx="704520" cy="4140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15" name="Picture 4"/>
          <p:cNvPicPr/>
          <p:nvPr/>
        </p:nvPicPr>
        <p:blipFill>
          <a:blip r:embed="rId1"/>
          <a:stretch/>
        </p:blipFill>
        <p:spPr>
          <a:xfrm>
            <a:off x="414360" y="1533600"/>
            <a:ext cx="8311680" cy="378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" name="Rectangle 5"/>
          <p:cNvSpPr/>
          <p:nvPr/>
        </p:nvSpPr>
        <p:spPr>
          <a:xfrm>
            <a:off x="4917960" y="2241720"/>
            <a:ext cx="376056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Rectangle 6"/>
          <p:cNvSpPr/>
          <p:nvPr/>
        </p:nvSpPr>
        <p:spPr>
          <a:xfrm>
            <a:off x="4915080" y="4172040"/>
            <a:ext cx="376056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18" name="Group 7"/>
          <p:cNvGrpSpPr/>
          <p:nvPr/>
        </p:nvGrpSpPr>
        <p:grpSpPr>
          <a:xfrm>
            <a:off x="455760" y="4098960"/>
            <a:ext cx="4311000" cy="579240"/>
            <a:chOff x="455760" y="4098960"/>
            <a:chExt cx="4311000" cy="579240"/>
          </a:xfrm>
        </p:grpSpPr>
        <p:sp>
          <p:nvSpPr>
            <p:cNvPr id="1119" name="Rectangle 8"/>
            <p:cNvSpPr/>
            <p:nvPr/>
          </p:nvSpPr>
          <p:spPr>
            <a:xfrm>
              <a:off x="455760" y="4168800"/>
              <a:ext cx="3760560" cy="4028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0" name="Text Box 9"/>
            <p:cNvSpPr/>
            <p:nvPr/>
          </p:nvSpPr>
          <p:spPr>
            <a:xfrm>
              <a:off x="4359240" y="4098960"/>
              <a:ext cx="407520" cy="579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nl-NL" sz="3200" b="1" u="none" strike="noStrike">
                  <a:solidFill>
                    <a:srgbClr val="00cc00"/>
                  </a:solidFill>
                  <a:effectLst/>
                  <a:uFillTx/>
                  <a:latin typeface="Symbol"/>
                </a:rPr>
                <a:t>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5" dur="indefinite" restart="never" nodeType="tmRoot">
          <p:childTnLst>
            <p:seq>
              <p:cTn id="816" dur="indefinite" nodeType="mainSeq">
                <p:childTnLst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950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deadlock strategieën: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kans op deadlocks minimaliseren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</a:t>
            </a: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detecteren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en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opheffen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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detecteren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?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 opheffen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processen één voor één afbreken tot wanneer geen deadlock meer optreedt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rollback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naar een vorige </a:t>
            </a:r>
            <a:r>
              <a:rPr lang="nl-NL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checkpoint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toestand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preëmptieve onderbreking van de toewijzing van bronnen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1" dur="indefinite" restart="never" nodeType="tmRoot">
          <p:childTnLst>
            <p:seq>
              <p:cTn id="822" dur="indefinite" nodeType="mainSeq">
                <p:childTnLst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207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deadlock strategieën: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kans op deadlocks minimaliseren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detecteren en opheffen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deadlocks vermijden door aanvragen van bronnen te analyseren en eventueel te weigeren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toestandsdiagrammen: </a:t>
            </a:r>
            <a:r>
              <a:rPr lang="nl-NL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veilige</a:t>
            </a: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 toestanden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BE" sz="2400" b="0" i="1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claim</a:t>
            </a:r>
            <a:r>
              <a:rPr lang="nl-BE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grafen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24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resourcetrajecten</a:t>
            </a:r>
            <a:r>
              <a:rPr lang="nl-NL" sz="24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</a:t>
            </a: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7" name="Picture 4"/>
          <p:cNvPicPr/>
          <p:nvPr/>
        </p:nvPicPr>
        <p:blipFill>
          <a:blip r:embed="rId1"/>
          <a:stretch/>
        </p:blipFill>
        <p:spPr>
          <a:xfrm>
            <a:off x="784080" y="542880"/>
            <a:ext cx="7575120" cy="57700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28" name="Rectangle 5"/>
          <p:cNvSpPr/>
          <p:nvPr/>
        </p:nvSpPr>
        <p:spPr>
          <a:xfrm>
            <a:off x="2790720" y="1608120"/>
            <a:ext cx="1420560" cy="7362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Rectangle 6"/>
          <p:cNvSpPr/>
          <p:nvPr/>
        </p:nvSpPr>
        <p:spPr>
          <a:xfrm>
            <a:off x="2790720" y="2344680"/>
            <a:ext cx="1420560" cy="5266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Rectangle 7"/>
          <p:cNvSpPr/>
          <p:nvPr/>
        </p:nvSpPr>
        <p:spPr>
          <a:xfrm>
            <a:off x="2790720" y="2871720"/>
            <a:ext cx="1420560" cy="9457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Rectangle 8"/>
          <p:cNvSpPr/>
          <p:nvPr/>
        </p:nvSpPr>
        <p:spPr>
          <a:xfrm>
            <a:off x="6537240" y="1608120"/>
            <a:ext cx="1020240" cy="7362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Rectangle 9"/>
          <p:cNvSpPr/>
          <p:nvPr/>
        </p:nvSpPr>
        <p:spPr>
          <a:xfrm>
            <a:off x="6537240" y="2344680"/>
            <a:ext cx="1020240" cy="5266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Rectangle 10"/>
          <p:cNvSpPr/>
          <p:nvPr/>
        </p:nvSpPr>
        <p:spPr>
          <a:xfrm>
            <a:off x="6537240" y="2871720"/>
            <a:ext cx="1020240" cy="9457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Rectangle 11"/>
          <p:cNvSpPr/>
          <p:nvPr/>
        </p:nvSpPr>
        <p:spPr>
          <a:xfrm>
            <a:off x="4213080" y="3813120"/>
            <a:ext cx="798120" cy="106488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Rectangle 12"/>
          <p:cNvSpPr/>
          <p:nvPr/>
        </p:nvSpPr>
        <p:spPr>
          <a:xfrm>
            <a:off x="5006880" y="3808440"/>
            <a:ext cx="785520" cy="106956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Rectangle 13"/>
          <p:cNvSpPr/>
          <p:nvPr/>
        </p:nvSpPr>
        <p:spPr>
          <a:xfrm>
            <a:off x="5794200" y="3811680"/>
            <a:ext cx="747360" cy="10663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Rectangle 14"/>
          <p:cNvSpPr/>
          <p:nvPr/>
        </p:nvSpPr>
        <p:spPr>
          <a:xfrm>
            <a:off x="4219560" y="1057320"/>
            <a:ext cx="798120" cy="55224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Rectangle 15"/>
          <p:cNvSpPr/>
          <p:nvPr/>
        </p:nvSpPr>
        <p:spPr>
          <a:xfrm>
            <a:off x="5013360" y="1052640"/>
            <a:ext cx="785520" cy="55512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Rectangle 16"/>
          <p:cNvSpPr/>
          <p:nvPr/>
        </p:nvSpPr>
        <p:spPr>
          <a:xfrm>
            <a:off x="5800680" y="1055520"/>
            <a:ext cx="747360" cy="55368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40" name="Group 17"/>
          <p:cNvGrpSpPr/>
          <p:nvPr/>
        </p:nvGrpSpPr>
        <p:grpSpPr>
          <a:xfrm>
            <a:off x="4206960" y="1608120"/>
            <a:ext cx="2334600" cy="2203200"/>
            <a:chOff x="4206960" y="1608120"/>
            <a:chExt cx="2334600" cy="2203200"/>
          </a:xfrm>
        </p:grpSpPr>
        <p:sp>
          <p:nvSpPr>
            <p:cNvPr id="1141" name="Rectangle 18"/>
            <p:cNvSpPr/>
            <p:nvPr/>
          </p:nvSpPr>
          <p:spPr>
            <a:xfrm>
              <a:off x="4206960" y="1608120"/>
              <a:ext cx="1598400" cy="126324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2" name="Rectangle 19"/>
            <p:cNvSpPr/>
            <p:nvPr/>
          </p:nvSpPr>
          <p:spPr>
            <a:xfrm>
              <a:off x="5006880" y="2338560"/>
              <a:ext cx="1534680" cy="147276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9" dur="indefinite" restart="never" nodeType="tmRoot">
          <p:childTnLst>
            <p:seq>
              <p:cTn id="840" dur="indefinite" nodeType="mainSeq">
                <p:childTnLst>
                  <p:par>
                    <p:cTn id="841" fill="hold">
                      <p:stCondLst>
                        <p:cond delay="indefinite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5" name="Picture 4"/>
          <p:cNvPicPr/>
          <p:nvPr/>
        </p:nvPicPr>
        <p:blipFill>
          <a:blip r:embed="rId1"/>
          <a:stretch/>
        </p:blipFill>
        <p:spPr>
          <a:xfrm>
            <a:off x="681120" y="668160"/>
            <a:ext cx="7779960" cy="55177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46" name="Rectangle 5"/>
          <p:cNvSpPr/>
          <p:nvPr/>
        </p:nvSpPr>
        <p:spPr>
          <a:xfrm>
            <a:off x="2739960" y="1760400"/>
            <a:ext cx="1464840" cy="7362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Rectangle 6"/>
          <p:cNvSpPr/>
          <p:nvPr/>
        </p:nvSpPr>
        <p:spPr>
          <a:xfrm>
            <a:off x="2739960" y="2509920"/>
            <a:ext cx="1464840" cy="5392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Rectangle 7"/>
          <p:cNvSpPr/>
          <p:nvPr/>
        </p:nvSpPr>
        <p:spPr>
          <a:xfrm>
            <a:off x="2733840" y="3049560"/>
            <a:ext cx="1464840" cy="9774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Rectangle 8"/>
          <p:cNvSpPr/>
          <p:nvPr/>
        </p:nvSpPr>
        <p:spPr>
          <a:xfrm>
            <a:off x="6600960" y="1760400"/>
            <a:ext cx="1033200" cy="7362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Rectangle 9"/>
          <p:cNvSpPr/>
          <p:nvPr/>
        </p:nvSpPr>
        <p:spPr>
          <a:xfrm>
            <a:off x="6600960" y="2509920"/>
            <a:ext cx="1033200" cy="5392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Rectangle 10"/>
          <p:cNvSpPr/>
          <p:nvPr/>
        </p:nvSpPr>
        <p:spPr>
          <a:xfrm>
            <a:off x="6600960" y="3049560"/>
            <a:ext cx="1033200" cy="97128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Rectangle 11"/>
          <p:cNvSpPr/>
          <p:nvPr/>
        </p:nvSpPr>
        <p:spPr>
          <a:xfrm>
            <a:off x="4200480" y="4022640"/>
            <a:ext cx="823680" cy="109008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Rectangle 12"/>
          <p:cNvSpPr/>
          <p:nvPr/>
        </p:nvSpPr>
        <p:spPr>
          <a:xfrm>
            <a:off x="5819760" y="4021200"/>
            <a:ext cx="779040" cy="109188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Rectangle 13"/>
          <p:cNvSpPr/>
          <p:nvPr/>
        </p:nvSpPr>
        <p:spPr>
          <a:xfrm>
            <a:off x="4206960" y="1209600"/>
            <a:ext cx="823680" cy="55224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Rectangle 14"/>
          <p:cNvSpPr/>
          <p:nvPr/>
        </p:nvSpPr>
        <p:spPr>
          <a:xfrm>
            <a:off x="5819760" y="1208160"/>
            <a:ext cx="779040" cy="55368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Rectangle 15"/>
          <p:cNvSpPr/>
          <p:nvPr/>
        </p:nvSpPr>
        <p:spPr>
          <a:xfrm>
            <a:off x="5019840" y="1760400"/>
            <a:ext cx="804600" cy="7362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Rectangle 16"/>
          <p:cNvSpPr/>
          <p:nvPr/>
        </p:nvSpPr>
        <p:spPr>
          <a:xfrm>
            <a:off x="5019840" y="2509920"/>
            <a:ext cx="804600" cy="5392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Rectangle 17"/>
          <p:cNvSpPr/>
          <p:nvPr/>
        </p:nvSpPr>
        <p:spPr>
          <a:xfrm>
            <a:off x="5019840" y="3049560"/>
            <a:ext cx="804600" cy="97128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59" name="Group 18"/>
          <p:cNvGrpSpPr/>
          <p:nvPr/>
        </p:nvGrpSpPr>
        <p:grpSpPr>
          <a:xfrm>
            <a:off x="4200480" y="1760400"/>
            <a:ext cx="2392200" cy="2266920"/>
            <a:chOff x="4200480" y="1760400"/>
            <a:chExt cx="2392200" cy="2266920"/>
          </a:xfrm>
        </p:grpSpPr>
        <p:sp>
          <p:nvSpPr>
            <p:cNvPr id="1160" name="Rectangle 19"/>
            <p:cNvSpPr/>
            <p:nvPr/>
          </p:nvSpPr>
          <p:spPr>
            <a:xfrm>
              <a:off x="4200480" y="1760400"/>
              <a:ext cx="836280" cy="129492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1" name="Rectangle 20"/>
            <p:cNvSpPr/>
            <p:nvPr/>
          </p:nvSpPr>
          <p:spPr>
            <a:xfrm>
              <a:off x="5826240" y="2509920"/>
              <a:ext cx="766440" cy="151740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nl-BE" sz="1600" b="1" i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5" dur="indefinite" restart="never" nodeType="tmRoot">
          <p:childTnLst>
            <p:seq>
              <p:cTn id="846" dur="indefinite" nodeType="mainSeq">
                <p:childTnLst>
                  <p:par>
                    <p:cTn id="847" fill="hold">
                      <p:stCondLst>
                        <p:cond delay="indefinite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4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4254120" cy="4422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65" name="Oval 5"/>
          <p:cNvSpPr/>
          <p:nvPr/>
        </p:nvSpPr>
        <p:spPr>
          <a:xfrm>
            <a:off x="2293920" y="12319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Oval 6"/>
          <p:cNvSpPr/>
          <p:nvPr/>
        </p:nvSpPr>
        <p:spPr>
          <a:xfrm>
            <a:off x="4703760" y="12398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Oval 7"/>
          <p:cNvSpPr/>
          <p:nvPr/>
        </p:nvSpPr>
        <p:spPr>
          <a:xfrm>
            <a:off x="3916440" y="12366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Oval 8"/>
          <p:cNvSpPr/>
          <p:nvPr/>
        </p:nvSpPr>
        <p:spPr>
          <a:xfrm>
            <a:off x="3083040" y="1233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Oval 9"/>
          <p:cNvSpPr/>
          <p:nvPr/>
        </p:nvSpPr>
        <p:spPr>
          <a:xfrm>
            <a:off x="2290680" y="19749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Oval 10"/>
          <p:cNvSpPr/>
          <p:nvPr/>
        </p:nvSpPr>
        <p:spPr>
          <a:xfrm>
            <a:off x="4700520" y="1982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Oval 11"/>
          <p:cNvSpPr/>
          <p:nvPr/>
        </p:nvSpPr>
        <p:spPr>
          <a:xfrm>
            <a:off x="3913200" y="1979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Oval 12"/>
          <p:cNvSpPr/>
          <p:nvPr/>
        </p:nvSpPr>
        <p:spPr>
          <a:xfrm>
            <a:off x="3079800" y="19764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Oval 13"/>
          <p:cNvSpPr/>
          <p:nvPr/>
        </p:nvSpPr>
        <p:spPr>
          <a:xfrm>
            <a:off x="1450800" y="19731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Oval 14"/>
          <p:cNvSpPr/>
          <p:nvPr/>
        </p:nvSpPr>
        <p:spPr>
          <a:xfrm>
            <a:off x="2287440" y="2717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Oval 15"/>
          <p:cNvSpPr/>
          <p:nvPr/>
        </p:nvSpPr>
        <p:spPr>
          <a:xfrm>
            <a:off x="3909960" y="2722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Oval 16"/>
          <p:cNvSpPr/>
          <p:nvPr/>
        </p:nvSpPr>
        <p:spPr>
          <a:xfrm>
            <a:off x="3076560" y="27194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Oval 17"/>
          <p:cNvSpPr/>
          <p:nvPr/>
        </p:nvSpPr>
        <p:spPr>
          <a:xfrm>
            <a:off x="1447920" y="27162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Oval 18"/>
          <p:cNvSpPr/>
          <p:nvPr/>
        </p:nvSpPr>
        <p:spPr>
          <a:xfrm>
            <a:off x="2295360" y="3460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Oval 19"/>
          <p:cNvSpPr/>
          <p:nvPr/>
        </p:nvSpPr>
        <p:spPr>
          <a:xfrm>
            <a:off x="3917880" y="3465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Oval 20"/>
          <p:cNvSpPr/>
          <p:nvPr/>
        </p:nvSpPr>
        <p:spPr>
          <a:xfrm>
            <a:off x="3084480" y="3462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Oval 21"/>
          <p:cNvSpPr/>
          <p:nvPr/>
        </p:nvSpPr>
        <p:spPr>
          <a:xfrm>
            <a:off x="1455840" y="3459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Oval 22"/>
          <p:cNvSpPr/>
          <p:nvPr/>
        </p:nvSpPr>
        <p:spPr>
          <a:xfrm>
            <a:off x="2292480" y="41511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Oval 23"/>
          <p:cNvSpPr/>
          <p:nvPr/>
        </p:nvSpPr>
        <p:spPr>
          <a:xfrm>
            <a:off x="1452600" y="41497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Oval 24"/>
          <p:cNvSpPr/>
          <p:nvPr/>
        </p:nvSpPr>
        <p:spPr>
          <a:xfrm>
            <a:off x="5332320" y="29401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Oval 25"/>
          <p:cNvSpPr/>
          <p:nvPr/>
        </p:nvSpPr>
        <p:spPr>
          <a:xfrm>
            <a:off x="5342040" y="44197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Rectangle 26"/>
          <p:cNvSpPr/>
          <p:nvPr/>
        </p:nvSpPr>
        <p:spPr>
          <a:xfrm>
            <a:off x="5340240" y="365112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9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4862160" cy="4422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90" name="Oval 5"/>
          <p:cNvSpPr/>
          <p:nvPr/>
        </p:nvSpPr>
        <p:spPr>
          <a:xfrm>
            <a:off x="2305080" y="12319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Oval 6"/>
          <p:cNvSpPr/>
          <p:nvPr/>
        </p:nvSpPr>
        <p:spPr>
          <a:xfrm>
            <a:off x="4703760" y="12398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Oval 7"/>
          <p:cNvSpPr/>
          <p:nvPr/>
        </p:nvSpPr>
        <p:spPr>
          <a:xfrm>
            <a:off x="3916440" y="12366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Oval 8"/>
          <p:cNvSpPr/>
          <p:nvPr/>
        </p:nvSpPr>
        <p:spPr>
          <a:xfrm>
            <a:off x="3083040" y="1233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Oval 9"/>
          <p:cNvSpPr/>
          <p:nvPr/>
        </p:nvSpPr>
        <p:spPr>
          <a:xfrm>
            <a:off x="1465200" y="1230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Oval 10"/>
          <p:cNvSpPr/>
          <p:nvPr/>
        </p:nvSpPr>
        <p:spPr>
          <a:xfrm>
            <a:off x="2301840" y="19749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Oval 11"/>
          <p:cNvSpPr/>
          <p:nvPr/>
        </p:nvSpPr>
        <p:spPr>
          <a:xfrm>
            <a:off x="4700520" y="1982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Oval 12"/>
          <p:cNvSpPr/>
          <p:nvPr/>
        </p:nvSpPr>
        <p:spPr>
          <a:xfrm>
            <a:off x="3913200" y="1979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Oval 13"/>
          <p:cNvSpPr/>
          <p:nvPr/>
        </p:nvSpPr>
        <p:spPr>
          <a:xfrm>
            <a:off x="3079800" y="19764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Oval 14"/>
          <p:cNvSpPr/>
          <p:nvPr/>
        </p:nvSpPr>
        <p:spPr>
          <a:xfrm>
            <a:off x="2298600" y="2717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Oval 15"/>
          <p:cNvSpPr/>
          <p:nvPr/>
        </p:nvSpPr>
        <p:spPr>
          <a:xfrm>
            <a:off x="3921120" y="2722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Oval 16"/>
          <p:cNvSpPr/>
          <p:nvPr/>
        </p:nvSpPr>
        <p:spPr>
          <a:xfrm>
            <a:off x="3087720" y="27194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Oval 17"/>
          <p:cNvSpPr/>
          <p:nvPr/>
        </p:nvSpPr>
        <p:spPr>
          <a:xfrm>
            <a:off x="1459080" y="27162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Oval 18"/>
          <p:cNvSpPr/>
          <p:nvPr/>
        </p:nvSpPr>
        <p:spPr>
          <a:xfrm>
            <a:off x="2306520" y="3460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Oval 19"/>
          <p:cNvSpPr/>
          <p:nvPr/>
        </p:nvSpPr>
        <p:spPr>
          <a:xfrm>
            <a:off x="3929040" y="3454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Oval 20"/>
          <p:cNvSpPr/>
          <p:nvPr/>
        </p:nvSpPr>
        <p:spPr>
          <a:xfrm>
            <a:off x="3095640" y="34513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Oval 21"/>
          <p:cNvSpPr/>
          <p:nvPr/>
        </p:nvSpPr>
        <p:spPr>
          <a:xfrm>
            <a:off x="1467000" y="3459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Oval 22"/>
          <p:cNvSpPr/>
          <p:nvPr/>
        </p:nvSpPr>
        <p:spPr>
          <a:xfrm>
            <a:off x="2303640" y="41511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Oval 23"/>
          <p:cNvSpPr/>
          <p:nvPr/>
        </p:nvSpPr>
        <p:spPr>
          <a:xfrm>
            <a:off x="1463760" y="41497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Oval 24"/>
          <p:cNvSpPr/>
          <p:nvPr/>
        </p:nvSpPr>
        <p:spPr>
          <a:xfrm>
            <a:off x="5332320" y="29289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Oval 25"/>
          <p:cNvSpPr/>
          <p:nvPr/>
        </p:nvSpPr>
        <p:spPr>
          <a:xfrm>
            <a:off x="5342040" y="44197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Oval 26"/>
          <p:cNvSpPr/>
          <p:nvPr/>
        </p:nvSpPr>
        <p:spPr>
          <a:xfrm>
            <a:off x="5900760" y="29368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Oval 27"/>
          <p:cNvSpPr/>
          <p:nvPr/>
        </p:nvSpPr>
        <p:spPr>
          <a:xfrm>
            <a:off x="5899320" y="44164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Rectangle 28"/>
          <p:cNvSpPr/>
          <p:nvPr/>
        </p:nvSpPr>
        <p:spPr>
          <a:xfrm>
            <a:off x="5902200" y="3645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Rectangle 29"/>
          <p:cNvSpPr/>
          <p:nvPr/>
        </p:nvSpPr>
        <p:spPr>
          <a:xfrm>
            <a:off x="5340240" y="365112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7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5487480" cy="44334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18" name="Oval 5"/>
          <p:cNvSpPr/>
          <p:nvPr/>
        </p:nvSpPr>
        <p:spPr>
          <a:xfrm>
            <a:off x="2293920" y="12319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Oval 6"/>
          <p:cNvSpPr/>
          <p:nvPr/>
        </p:nvSpPr>
        <p:spPr>
          <a:xfrm>
            <a:off x="4703760" y="12398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Oval 7"/>
          <p:cNvSpPr/>
          <p:nvPr/>
        </p:nvSpPr>
        <p:spPr>
          <a:xfrm>
            <a:off x="3916440" y="12366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Oval 8"/>
          <p:cNvSpPr/>
          <p:nvPr/>
        </p:nvSpPr>
        <p:spPr>
          <a:xfrm>
            <a:off x="3083040" y="1233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Oval 9"/>
          <p:cNvSpPr/>
          <p:nvPr/>
        </p:nvSpPr>
        <p:spPr>
          <a:xfrm>
            <a:off x="1454040" y="1230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Oval 10"/>
          <p:cNvSpPr/>
          <p:nvPr/>
        </p:nvSpPr>
        <p:spPr>
          <a:xfrm>
            <a:off x="4700520" y="1982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Oval 11"/>
          <p:cNvSpPr/>
          <p:nvPr/>
        </p:nvSpPr>
        <p:spPr>
          <a:xfrm>
            <a:off x="3913200" y="1979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Oval 12"/>
          <p:cNvSpPr/>
          <p:nvPr/>
        </p:nvSpPr>
        <p:spPr>
          <a:xfrm>
            <a:off x="3079800" y="1987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Oval 13"/>
          <p:cNvSpPr/>
          <p:nvPr/>
        </p:nvSpPr>
        <p:spPr>
          <a:xfrm>
            <a:off x="1450800" y="19843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Oval 14"/>
          <p:cNvSpPr/>
          <p:nvPr/>
        </p:nvSpPr>
        <p:spPr>
          <a:xfrm>
            <a:off x="2287440" y="27288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Oval 15"/>
          <p:cNvSpPr/>
          <p:nvPr/>
        </p:nvSpPr>
        <p:spPr>
          <a:xfrm>
            <a:off x="3909960" y="2722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Oval 16"/>
          <p:cNvSpPr/>
          <p:nvPr/>
        </p:nvSpPr>
        <p:spPr>
          <a:xfrm>
            <a:off x="3076560" y="27194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Oval 17"/>
          <p:cNvSpPr/>
          <p:nvPr/>
        </p:nvSpPr>
        <p:spPr>
          <a:xfrm>
            <a:off x="1447920" y="2727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Oval 18"/>
          <p:cNvSpPr/>
          <p:nvPr/>
        </p:nvSpPr>
        <p:spPr>
          <a:xfrm>
            <a:off x="2295360" y="3460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Oval 19"/>
          <p:cNvSpPr/>
          <p:nvPr/>
        </p:nvSpPr>
        <p:spPr>
          <a:xfrm>
            <a:off x="3917880" y="3465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Oval 20"/>
          <p:cNvSpPr/>
          <p:nvPr/>
        </p:nvSpPr>
        <p:spPr>
          <a:xfrm>
            <a:off x="3084480" y="3462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Oval 21"/>
          <p:cNvSpPr/>
          <p:nvPr/>
        </p:nvSpPr>
        <p:spPr>
          <a:xfrm>
            <a:off x="1455840" y="3459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Oval 22"/>
          <p:cNvSpPr/>
          <p:nvPr/>
        </p:nvSpPr>
        <p:spPr>
          <a:xfrm>
            <a:off x="2292480" y="41623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Oval 23"/>
          <p:cNvSpPr/>
          <p:nvPr/>
        </p:nvSpPr>
        <p:spPr>
          <a:xfrm>
            <a:off x="1452600" y="4160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Oval 24"/>
          <p:cNvSpPr/>
          <p:nvPr/>
        </p:nvSpPr>
        <p:spPr>
          <a:xfrm>
            <a:off x="5332320" y="29401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Oval 25"/>
          <p:cNvSpPr/>
          <p:nvPr/>
        </p:nvSpPr>
        <p:spPr>
          <a:xfrm>
            <a:off x="5342040" y="44308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Oval 26"/>
          <p:cNvSpPr/>
          <p:nvPr/>
        </p:nvSpPr>
        <p:spPr>
          <a:xfrm>
            <a:off x="5900760" y="29480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Oval 27"/>
          <p:cNvSpPr/>
          <p:nvPr/>
        </p:nvSpPr>
        <p:spPr>
          <a:xfrm>
            <a:off x="5899320" y="4427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Oval 28"/>
          <p:cNvSpPr/>
          <p:nvPr/>
        </p:nvSpPr>
        <p:spPr>
          <a:xfrm>
            <a:off x="6521400" y="29383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Oval 29"/>
          <p:cNvSpPr/>
          <p:nvPr/>
        </p:nvSpPr>
        <p:spPr>
          <a:xfrm>
            <a:off x="6531120" y="44290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Rectangle 30"/>
          <p:cNvSpPr/>
          <p:nvPr/>
        </p:nvSpPr>
        <p:spPr>
          <a:xfrm>
            <a:off x="5891040" y="366696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Rectangle 31"/>
          <p:cNvSpPr/>
          <p:nvPr/>
        </p:nvSpPr>
        <p:spPr>
          <a:xfrm>
            <a:off x="5340240" y="36622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Rectangle 32"/>
          <p:cNvSpPr/>
          <p:nvPr/>
        </p:nvSpPr>
        <p:spPr>
          <a:xfrm>
            <a:off x="6515280" y="3672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8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6027480" cy="43700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49" name="Oval 5"/>
          <p:cNvSpPr/>
          <p:nvPr/>
        </p:nvSpPr>
        <p:spPr>
          <a:xfrm>
            <a:off x="2293920" y="12430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Oval 6"/>
          <p:cNvSpPr/>
          <p:nvPr/>
        </p:nvSpPr>
        <p:spPr>
          <a:xfrm>
            <a:off x="4670280" y="12510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Oval 7"/>
          <p:cNvSpPr/>
          <p:nvPr/>
        </p:nvSpPr>
        <p:spPr>
          <a:xfrm>
            <a:off x="3882960" y="12477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Oval 8"/>
          <p:cNvSpPr/>
          <p:nvPr/>
        </p:nvSpPr>
        <p:spPr>
          <a:xfrm>
            <a:off x="3071880" y="12445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Oval 9"/>
          <p:cNvSpPr/>
          <p:nvPr/>
        </p:nvSpPr>
        <p:spPr>
          <a:xfrm>
            <a:off x="1454040" y="12412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Oval 10"/>
          <p:cNvSpPr/>
          <p:nvPr/>
        </p:nvSpPr>
        <p:spPr>
          <a:xfrm>
            <a:off x="2290680" y="19749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Oval 11"/>
          <p:cNvSpPr/>
          <p:nvPr/>
        </p:nvSpPr>
        <p:spPr>
          <a:xfrm>
            <a:off x="4667400" y="1982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Oval 12"/>
          <p:cNvSpPr/>
          <p:nvPr/>
        </p:nvSpPr>
        <p:spPr>
          <a:xfrm>
            <a:off x="3879720" y="1979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Oval 13"/>
          <p:cNvSpPr/>
          <p:nvPr/>
        </p:nvSpPr>
        <p:spPr>
          <a:xfrm>
            <a:off x="1450800" y="19731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Oval 14"/>
          <p:cNvSpPr/>
          <p:nvPr/>
        </p:nvSpPr>
        <p:spPr>
          <a:xfrm>
            <a:off x="2287440" y="2717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Oval 15"/>
          <p:cNvSpPr/>
          <p:nvPr/>
        </p:nvSpPr>
        <p:spPr>
          <a:xfrm>
            <a:off x="3876840" y="2700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Oval 16"/>
          <p:cNvSpPr/>
          <p:nvPr/>
        </p:nvSpPr>
        <p:spPr>
          <a:xfrm>
            <a:off x="3065400" y="26971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Oval 17"/>
          <p:cNvSpPr/>
          <p:nvPr/>
        </p:nvSpPr>
        <p:spPr>
          <a:xfrm>
            <a:off x="1459080" y="27162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Oval 18"/>
          <p:cNvSpPr/>
          <p:nvPr/>
        </p:nvSpPr>
        <p:spPr>
          <a:xfrm>
            <a:off x="2284560" y="3427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Oval 19"/>
          <p:cNvSpPr/>
          <p:nvPr/>
        </p:nvSpPr>
        <p:spPr>
          <a:xfrm>
            <a:off x="3873600" y="3432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Oval 20"/>
          <p:cNvSpPr/>
          <p:nvPr/>
        </p:nvSpPr>
        <p:spPr>
          <a:xfrm>
            <a:off x="3062160" y="34290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Oval 21"/>
          <p:cNvSpPr/>
          <p:nvPr/>
        </p:nvSpPr>
        <p:spPr>
          <a:xfrm>
            <a:off x="1455840" y="34257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Oval 22"/>
          <p:cNvSpPr/>
          <p:nvPr/>
        </p:nvSpPr>
        <p:spPr>
          <a:xfrm>
            <a:off x="2281320" y="41180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Oval 23"/>
          <p:cNvSpPr/>
          <p:nvPr/>
        </p:nvSpPr>
        <p:spPr>
          <a:xfrm>
            <a:off x="1452600" y="4116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Oval 24"/>
          <p:cNvSpPr/>
          <p:nvPr/>
        </p:nvSpPr>
        <p:spPr>
          <a:xfrm>
            <a:off x="5265720" y="29178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Oval 25"/>
          <p:cNvSpPr/>
          <p:nvPr/>
        </p:nvSpPr>
        <p:spPr>
          <a:xfrm>
            <a:off x="5275440" y="43750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Oval 26"/>
          <p:cNvSpPr/>
          <p:nvPr/>
        </p:nvSpPr>
        <p:spPr>
          <a:xfrm>
            <a:off x="5823000" y="292572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Oval 27"/>
          <p:cNvSpPr/>
          <p:nvPr/>
        </p:nvSpPr>
        <p:spPr>
          <a:xfrm>
            <a:off x="5821200" y="43718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Oval 28"/>
          <p:cNvSpPr/>
          <p:nvPr/>
        </p:nvSpPr>
        <p:spPr>
          <a:xfrm>
            <a:off x="6443640" y="29163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Oval 29"/>
          <p:cNvSpPr/>
          <p:nvPr/>
        </p:nvSpPr>
        <p:spPr>
          <a:xfrm>
            <a:off x="64533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Oval 30"/>
          <p:cNvSpPr/>
          <p:nvPr/>
        </p:nvSpPr>
        <p:spPr>
          <a:xfrm>
            <a:off x="7075440" y="29163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Oval 31"/>
          <p:cNvSpPr/>
          <p:nvPr/>
        </p:nvSpPr>
        <p:spPr>
          <a:xfrm>
            <a:off x="70851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Rectangle 32"/>
          <p:cNvSpPr/>
          <p:nvPr/>
        </p:nvSpPr>
        <p:spPr>
          <a:xfrm>
            <a:off x="5813280" y="36226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Rectangle 33"/>
          <p:cNvSpPr/>
          <p:nvPr/>
        </p:nvSpPr>
        <p:spPr>
          <a:xfrm>
            <a:off x="5262480" y="3618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Rectangle 34"/>
          <p:cNvSpPr/>
          <p:nvPr/>
        </p:nvSpPr>
        <p:spPr>
          <a:xfrm>
            <a:off x="7066080" y="362124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Rectangle 35"/>
          <p:cNvSpPr/>
          <p:nvPr/>
        </p:nvSpPr>
        <p:spPr>
          <a:xfrm>
            <a:off x="6448320" y="36162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2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6703560" cy="437796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83" name="Oval 5"/>
          <p:cNvSpPr/>
          <p:nvPr/>
        </p:nvSpPr>
        <p:spPr>
          <a:xfrm>
            <a:off x="2293920" y="12319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Oval 6"/>
          <p:cNvSpPr/>
          <p:nvPr/>
        </p:nvSpPr>
        <p:spPr>
          <a:xfrm>
            <a:off x="4670280" y="1228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Oval 7"/>
          <p:cNvSpPr/>
          <p:nvPr/>
        </p:nvSpPr>
        <p:spPr>
          <a:xfrm>
            <a:off x="3894120" y="12366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Oval 8"/>
          <p:cNvSpPr/>
          <p:nvPr/>
        </p:nvSpPr>
        <p:spPr>
          <a:xfrm>
            <a:off x="3083040" y="1233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Oval 9"/>
          <p:cNvSpPr/>
          <p:nvPr/>
        </p:nvSpPr>
        <p:spPr>
          <a:xfrm>
            <a:off x="1465200" y="1230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Oval 10"/>
          <p:cNvSpPr/>
          <p:nvPr/>
        </p:nvSpPr>
        <p:spPr>
          <a:xfrm>
            <a:off x="2290680" y="19638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Oval 11"/>
          <p:cNvSpPr/>
          <p:nvPr/>
        </p:nvSpPr>
        <p:spPr>
          <a:xfrm>
            <a:off x="4667400" y="1960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Oval 12"/>
          <p:cNvSpPr/>
          <p:nvPr/>
        </p:nvSpPr>
        <p:spPr>
          <a:xfrm>
            <a:off x="3890880" y="1968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Oval 13"/>
          <p:cNvSpPr/>
          <p:nvPr/>
        </p:nvSpPr>
        <p:spPr>
          <a:xfrm>
            <a:off x="3079800" y="1965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Oval 14"/>
          <p:cNvSpPr/>
          <p:nvPr/>
        </p:nvSpPr>
        <p:spPr>
          <a:xfrm>
            <a:off x="1461960" y="19620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Oval 15"/>
          <p:cNvSpPr/>
          <p:nvPr/>
        </p:nvSpPr>
        <p:spPr>
          <a:xfrm>
            <a:off x="2287440" y="2695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Oval 16"/>
          <p:cNvSpPr/>
          <p:nvPr/>
        </p:nvSpPr>
        <p:spPr>
          <a:xfrm>
            <a:off x="3887640" y="2700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Oval 17"/>
          <p:cNvSpPr/>
          <p:nvPr/>
        </p:nvSpPr>
        <p:spPr>
          <a:xfrm>
            <a:off x="1459080" y="2693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Oval 18"/>
          <p:cNvSpPr/>
          <p:nvPr/>
        </p:nvSpPr>
        <p:spPr>
          <a:xfrm>
            <a:off x="2295360" y="3427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Oval 19"/>
          <p:cNvSpPr/>
          <p:nvPr/>
        </p:nvSpPr>
        <p:spPr>
          <a:xfrm>
            <a:off x="3895560" y="34322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Oval 20"/>
          <p:cNvSpPr/>
          <p:nvPr/>
        </p:nvSpPr>
        <p:spPr>
          <a:xfrm>
            <a:off x="3084480" y="34290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Oval 21"/>
          <p:cNvSpPr/>
          <p:nvPr/>
        </p:nvSpPr>
        <p:spPr>
          <a:xfrm>
            <a:off x="1467000" y="34257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Oval 22"/>
          <p:cNvSpPr/>
          <p:nvPr/>
        </p:nvSpPr>
        <p:spPr>
          <a:xfrm>
            <a:off x="2292480" y="4106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Oval 23"/>
          <p:cNvSpPr/>
          <p:nvPr/>
        </p:nvSpPr>
        <p:spPr>
          <a:xfrm>
            <a:off x="1463760" y="41054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Oval 24"/>
          <p:cNvSpPr/>
          <p:nvPr/>
        </p:nvSpPr>
        <p:spPr>
          <a:xfrm>
            <a:off x="5288040" y="2906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Oval 25"/>
          <p:cNvSpPr/>
          <p:nvPr/>
        </p:nvSpPr>
        <p:spPr>
          <a:xfrm>
            <a:off x="5286240" y="43750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Oval 26"/>
          <p:cNvSpPr/>
          <p:nvPr/>
        </p:nvSpPr>
        <p:spPr>
          <a:xfrm>
            <a:off x="5845320" y="29145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Oval 27"/>
          <p:cNvSpPr/>
          <p:nvPr/>
        </p:nvSpPr>
        <p:spPr>
          <a:xfrm>
            <a:off x="5843520" y="43718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Oval 28"/>
          <p:cNvSpPr/>
          <p:nvPr/>
        </p:nvSpPr>
        <p:spPr>
          <a:xfrm>
            <a:off x="6465960" y="29052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Oval 29"/>
          <p:cNvSpPr/>
          <p:nvPr/>
        </p:nvSpPr>
        <p:spPr>
          <a:xfrm>
            <a:off x="64641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Oval 30"/>
          <p:cNvSpPr/>
          <p:nvPr/>
        </p:nvSpPr>
        <p:spPr>
          <a:xfrm>
            <a:off x="7097760" y="29052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Oval 31"/>
          <p:cNvSpPr/>
          <p:nvPr/>
        </p:nvSpPr>
        <p:spPr>
          <a:xfrm>
            <a:off x="70959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Oval 32"/>
          <p:cNvSpPr/>
          <p:nvPr/>
        </p:nvSpPr>
        <p:spPr>
          <a:xfrm>
            <a:off x="7718400" y="29145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Oval 33"/>
          <p:cNvSpPr/>
          <p:nvPr/>
        </p:nvSpPr>
        <p:spPr>
          <a:xfrm>
            <a:off x="7728120" y="43830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Rectangle 34"/>
          <p:cNvSpPr/>
          <p:nvPr/>
        </p:nvSpPr>
        <p:spPr>
          <a:xfrm>
            <a:off x="5835600" y="36226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Rectangle 35"/>
          <p:cNvSpPr/>
          <p:nvPr/>
        </p:nvSpPr>
        <p:spPr>
          <a:xfrm>
            <a:off x="5284800" y="3618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Rectangle 36"/>
          <p:cNvSpPr/>
          <p:nvPr/>
        </p:nvSpPr>
        <p:spPr>
          <a:xfrm>
            <a:off x="7099200" y="36100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Rectangle 37"/>
          <p:cNvSpPr/>
          <p:nvPr/>
        </p:nvSpPr>
        <p:spPr>
          <a:xfrm>
            <a:off x="6470640" y="36162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Rectangle 38"/>
          <p:cNvSpPr/>
          <p:nvPr/>
        </p:nvSpPr>
        <p:spPr>
          <a:xfrm>
            <a:off x="7711920" y="361332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9" name="Picture 4"/>
          <p:cNvPicPr/>
          <p:nvPr/>
        </p:nvPicPr>
        <p:blipFill>
          <a:blip r:embed="rId1"/>
          <a:stretch/>
        </p:blipFill>
        <p:spPr>
          <a:xfrm>
            <a:off x="1438200" y="1079640"/>
            <a:ext cx="7683120" cy="43700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20" name="Oval 5"/>
          <p:cNvSpPr/>
          <p:nvPr/>
        </p:nvSpPr>
        <p:spPr>
          <a:xfrm>
            <a:off x="2293920" y="12319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Oval 6"/>
          <p:cNvSpPr/>
          <p:nvPr/>
        </p:nvSpPr>
        <p:spPr>
          <a:xfrm>
            <a:off x="4670280" y="12398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Oval 7"/>
          <p:cNvSpPr/>
          <p:nvPr/>
        </p:nvSpPr>
        <p:spPr>
          <a:xfrm>
            <a:off x="3894120" y="12366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Oval 8"/>
          <p:cNvSpPr/>
          <p:nvPr/>
        </p:nvSpPr>
        <p:spPr>
          <a:xfrm>
            <a:off x="3060720" y="12333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Oval 9"/>
          <p:cNvSpPr/>
          <p:nvPr/>
        </p:nvSpPr>
        <p:spPr>
          <a:xfrm>
            <a:off x="1454040" y="12304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Oval 10"/>
          <p:cNvSpPr/>
          <p:nvPr/>
        </p:nvSpPr>
        <p:spPr>
          <a:xfrm>
            <a:off x="2290680" y="19526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Oval 11"/>
          <p:cNvSpPr/>
          <p:nvPr/>
        </p:nvSpPr>
        <p:spPr>
          <a:xfrm>
            <a:off x="4667400" y="1960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Oval 12"/>
          <p:cNvSpPr/>
          <p:nvPr/>
        </p:nvSpPr>
        <p:spPr>
          <a:xfrm>
            <a:off x="3890880" y="195732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Oval 13"/>
          <p:cNvSpPr/>
          <p:nvPr/>
        </p:nvSpPr>
        <p:spPr>
          <a:xfrm>
            <a:off x="3057480" y="19540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Oval 14"/>
          <p:cNvSpPr/>
          <p:nvPr/>
        </p:nvSpPr>
        <p:spPr>
          <a:xfrm>
            <a:off x="1450800" y="195120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Oval 15"/>
          <p:cNvSpPr/>
          <p:nvPr/>
        </p:nvSpPr>
        <p:spPr>
          <a:xfrm>
            <a:off x="2287440" y="26956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Oval 16"/>
          <p:cNvSpPr/>
          <p:nvPr/>
        </p:nvSpPr>
        <p:spPr>
          <a:xfrm>
            <a:off x="3881520" y="2697120"/>
            <a:ext cx="298080" cy="27756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Oval 18"/>
          <p:cNvSpPr/>
          <p:nvPr/>
        </p:nvSpPr>
        <p:spPr>
          <a:xfrm>
            <a:off x="1447920" y="2693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Oval 19"/>
          <p:cNvSpPr/>
          <p:nvPr/>
        </p:nvSpPr>
        <p:spPr>
          <a:xfrm>
            <a:off x="2295360" y="34275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Oval 20"/>
          <p:cNvSpPr/>
          <p:nvPr/>
        </p:nvSpPr>
        <p:spPr>
          <a:xfrm>
            <a:off x="3059280" y="3422520"/>
            <a:ext cx="298080" cy="27756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Oval 21"/>
          <p:cNvSpPr/>
          <p:nvPr/>
        </p:nvSpPr>
        <p:spPr>
          <a:xfrm>
            <a:off x="1455840" y="342576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Oval 22"/>
          <p:cNvSpPr/>
          <p:nvPr/>
        </p:nvSpPr>
        <p:spPr>
          <a:xfrm>
            <a:off x="2292480" y="410688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Oval 23"/>
          <p:cNvSpPr/>
          <p:nvPr/>
        </p:nvSpPr>
        <p:spPr>
          <a:xfrm>
            <a:off x="1452600" y="4105440"/>
            <a:ext cx="298080" cy="27756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Oval 24"/>
          <p:cNvSpPr/>
          <p:nvPr/>
        </p:nvSpPr>
        <p:spPr>
          <a:xfrm>
            <a:off x="5276880" y="2906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Oval 25"/>
          <p:cNvSpPr/>
          <p:nvPr/>
        </p:nvSpPr>
        <p:spPr>
          <a:xfrm>
            <a:off x="5286240" y="437508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Oval 26"/>
          <p:cNvSpPr/>
          <p:nvPr/>
        </p:nvSpPr>
        <p:spPr>
          <a:xfrm>
            <a:off x="5834160" y="29145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Oval 27"/>
          <p:cNvSpPr/>
          <p:nvPr/>
        </p:nvSpPr>
        <p:spPr>
          <a:xfrm>
            <a:off x="5843520" y="43718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Oval 28"/>
          <p:cNvSpPr/>
          <p:nvPr/>
        </p:nvSpPr>
        <p:spPr>
          <a:xfrm>
            <a:off x="6454800" y="29052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Oval 29"/>
          <p:cNvSpPr/>
          <p:nvPr/>
        </p:nvSpPr>
        <p:spPr>
          <a:xfrm>
            <a:off x="64641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Oval 30"/>
          <p:cNvSpPr/>
          <p:nvPr/>
        </p:nvSpPr>
        <p:spPr>
          <a:xfrm>
            <a:off x="7086600" y="29052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Oval 31"/>
          <p:cNvSpPr/>
          <p:nvPr/>
        </p:nvSpPr>
        <p:spPr>
          <a:xfrm>
            <a:off x="709596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Oval 32"/>
          <p:cNvSpPr/>
          <p:nvPr/>
        </p:nvSpPr>
        <p:spPr>
          <a:xfrm>
            <a:off x="7707240" y="291456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Oval 33"/>
          <p:cNvSpPr/>
          <p:nvPr/>
        </p:nvSpPr>
        <p:spPr>
          <a:xfrm>
            <a:off x="7716960" y="43830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Oval 34"/>
          <p:cNvSpPr/>
          <p:nvPr/>
        </p:nvSpPr>
        <p:spPr>
          <a:xfrm>
            <a:off x="8745480" y="290520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Oval 35"/>
          <p:cNvSpPr/>
          <p:nvPr/>
        </p:nvSpPr>
        <p:spPr>
          <a:xfrm>
            <a:off x="8755200" y="4373640"/>
            <a:ext cx="291600" cy="30132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Rectangle 36"/>
          <p:cNvSpPr/>
          <p:nvPr/>
        </p:nvSpPr>
        <p:spPr>
          <a:xfrm>
            <a:off x="5835600" y="36226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Rectangle 37"/>
          <p:cNvSpPr/>
          <p:nvPr/>
        </p:nvSpPr>
        <p:spPr>
          <a:xfrm>
            <a:off x="5284800" y="3618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Rectangle 38"/>
          <p:cNvSpPr/>
          <p:nvPr/>
        </p:nvSpPr>
        <p:spPr>
          <a:xfrm>
            <a:off x="7088040" y="361008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Rectangle 39"/>
          <p:cNvSpPr/>
          <p:nvPr/>
        </p:nvSpPr>
        <p:spPr>
          <a:xfrm>
            <a:off x="6470640" y="36162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Rectangle 40"/>
          <p:cNvSpPr/>
          <p:nvPr/>
        </p:nvSpPr>
        <p:spPr>
          <a:xfrm>
            <a:off x="8751960" y="361800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Rectangle 41"/>
          <p:cNvSpPr/>
          <p:nvPr/>
        </p:nvSpPr>
        <p:spPr>
          <a:xfrm>
            <a:off x="7711920" y="3613320"/>
            <a:ext cx="294840" cy="2916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Oval 42"/>
          <p:cNvSpPr/>
          <p:nvPr/>
        </p:nvSpPr>
        <p:spPr>
          <a:xfrm>
            <a:off x="3056040" y="2689200"/>
            <a:ext cx="298080" cy="27756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9" name="Picture 4"/>
          <p:cNvPicPr/>
          <p:nvPr/>
        </p:nvPicPr>
        <p:blipFill>
          <a:blip r:embed="rId1"/>
          <a:stretch/>
        </p:blipFill>
        <p:spPr>
          <a:xfrm>
            <a:off x="1324080" y="901800"/>
            <a:ext cx="6492600" cy="505116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60" name="Oval 5"/>
          <p:cNvSpPr/>
          <p:nvPr/>
        </p:nvSpPr>
        <p:spPr>
          <a:xfrm>
            <a:off x="3351240" y="1781280"/>
            <a:ext cx="444240" cy="44424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Oval 6"/>
          <p:cNvSpPr/>
          <p:nvPr/>
        </p:nvSpPr>
        <p:spPr>
          <a:xfrm>
            <a:off x="4610160" y="1189080"/>
            <a:ext cx="444240" cy="44424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Oval 7"/>
          <p:cNvSpPr/>
          <p:nvPr/>
        </p:nvSpPr>
        <p:spPr>
          <a:xfrm>
            <a:off x="4194000" y="2035080"/>
            <a:ext cx="444240" cy="44424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Oval 8"/>
          <p:cNvSpPr/>
          <p:nvPr/>
        </p:nvSpPr>
        <p:spPr>
          <a:xfrm>
            <a:off x="5207040" y="1949400"/>
            <a:ext cx="444240" cy="44424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Oval 9"/>
          <p:cNvSpPr/>
          <p:nvPr/>
        </p:nvSpPr>
        <p:spPr>
          <a:xfrm>
            <a:off x="6384960" y="1863720"/>
            <a:ext cx="444240" cy="444240"/>
          </a:xfrm>
          <a:prstGeom prst="ellipse">
            <a:avLst/>
          </a:prstGeom>
          <a:solidFill>
            <a:srgbClr val="00cc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Oval 10"/>
          <p:cNvSpPr/>
          <p:nvPr/>
        </p:nvSpPr>
        <p:spPr>
          <a:xfrm>
            <a:off x="5707080" y="4138560"/>
            <a:ext cx="444240" cy="44424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Oval 11"/>
          <p:cNvSpPr/>
          <p:nvPr/>
        </p:nvSpPr>
        <p:spPr>
          <a:xfrm>
            <a:off x="6541920" y="4237200"/>
            <a:ext cx="444240" cy="44424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Oval 12"/>
          <p:cNvSpPr/>
          <p:nvPr/>
        </p:nvSpPr>
        <p:spPr>
          <a:xfrm>
            <a:off x="6137280" y="3633840"/>
            <a:ext cx="444240" cy="44424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Oval 13"/>
          <p:cNvSpPr/>
          <p:nvPr/>
        </p:nvSpPr>
        <p:spPr>
          <a:xfrm>
            <a:off x="6464160" y="2968560"/>
            <a:ext cx="444240" cy="4442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Oval 14"/>
          <p:cNvSpPr/>
          <p:nvPr/>
        </p:nvSpPr>
        <p:spPr>
          <a:xfrm>
            <a:off x="5365800" y="2967120"/>
            <a:ext cx="444240" cy="4442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Oval 15"/>
          <p:cNvSpPr/>
          <p:nvPr/>
        </p:nvSpPr>
        <p:spPr>
          <a:xfrm>
            <a:off x="4689360" y="3730680"/>
            <a:ext cx="444240" cy="4442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Oval 16"/>
          <p:cNvSpPr/>
          <p:nvPr/>
        </p:nvSpPr>
        <p:spPr>
          <a:xfrm>
            <a:off x="4851360" y="4565520"/>
            <a:ext cx="444240" cy="44424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claimgrafen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3" name="Picture 6"/>
          <p:cNvPicPr/>
          <p:nvPr/>
        </p:nvPicPr>
        <p:blipFill>
          <a:blip r:embed="rId1"/>
          <a:stretch/>
        </p:blipFill>
        <p:spPr>
          <a:xfrm>
            <a:off x="379440" y="1378080"/>
            <a:ext cx="8384760" cy="4930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4" name="Picture 7"/>
          <p:cNvPicPr/>
          <p:nvPr/>
        </p:nvPicPr>
        <p:blipFill>
          <a:blip r:embed="rId2"/>
          <a:stretch/>
        </p:blipFill>
        <p:spPr>
          <a:xfrm>
            <a:off x="379440" y="1378080"/>
            <a:ext cx="8384760" cy="4930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5" name="Picture 8"/>
          <p:cNvPicPr/>
          <p:nvPr/>
        </p:nvPicPr>
        <p:blipFill>
          <a:blip r:embed="rId3"/>
          <a:stretch/>
        </p:blipFill>
        <p:spPr>
          <a:xfrm>
            <a:off x="379440" y="1378080"/>
            <a:ext cx="8384760" cy="4930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6" name="Picture 9"/>
          <p:cNvPicPr/>
          <p:nvPr/>
        </p:nvPicPr>
        <p:blipFill>
          <a:blip r:embed="rId4"/>
          <a:stretch/>
        </p:blipFill>
        <p:spPr>
          <a:xfrm>
            <a:off x="379440" y="1378080"/>
            <a:ext cx="8384760" cy="4930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7" name="Picture 10"/>
          <p:cNvPicPr/>
          <p:nvPr/>
        </p:nvPicPr>
        <p:blipFill>
          <a:blip r:embed="rId5"/>
          <a:stretch/>
        </p:blipFill>
        <p:spPr>
          <a:xfrm>
            <a:off x="379440" y="1378080"/>
            <a:ext cx="8384760" cy="493056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1" dur="indefinite" restart="never" nodeType="tmRoot">
          <p:childTnLst>
            <p:seq>
              <p:cTn id="852" dur="indefinite" nodeType="mainSeq">
                <p:childTnLst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9" name="Picture 6"/>
          <p:cNvPicPr/>
          <p:nvPr/>
        </p:nvPicPr>
        <p:blipFill>
          <a:blip r:embed="rId1"/>
          <a:stretch/>
        </p:blipFill>
        <p:spPr>
          <a:xfrm>
            <a:off x="2013120" y="1003320"/>
            <a:ext cx="4447800" cy="56192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0" name="Picture 7"/>
          <p:cNvPicPr/>
          <p:nvPr/>
        </p:nvPicPr>
        <p:blipFill>
          <a:blip r:embed="rId2"/>
          <a:stretch/>
        </p:blipFill>
        <p:spPr>
          <a:xfrm>
            <a:off x="2013120" y="1003320"/>
            <a:ext cx="4447800" cy="56192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9" dur="indefinite" restart="never" nodeType="tmRoot">
          <p:childTnLst>
            <p:seq>
              <p:cTn id="870" dur="indefinite" nodeType="mainSeq">
                <p:childTnLst>
                  <p:par>
                    <p:cTn id="871" fill="hold">
                      <p:stCondLst>
                        <p:cond delay="indefinite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2" name="Picture 3"/>
          <p:cNvPicPr/>
          <p:nvPr/>
        </p:nvPicPr>
        <p:blipFill>
          <a:blip r:embed="rId1"/>
          <a:stretch/>
        </p:blipFill>
        <p:spPr>
          <a:xfrm>
            <a:off x="738360" y="1038240"/>
            <a:ext cx="7667280" cy="56192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Picture 3"/>
          <p:cNvPicPr/>
          <p:nvPr/>
        </p:nvPicPr>
        <p:blipFill>
          <a:blip r:embed="rId1"/>
          <a:stretch/>
        </p:blipFill>
        <p:spPr>
          <a:xfrm>
            <a:off x="136440" y="1611360"/>
            <a:ext cx="8864280" cy="3641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84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5" name="Picture 4"/>
          <p:cNvPicPr/>
          <p:nvPr/>
        </p:nvPicPr>
        <p:blipFill>
          <a:blip r:embed="rId2"/>
          <a:stretch/>
        </p:blipFill>
        <p:spPr>
          <a:xfrm>
            <a:off x="142920" y="1619280"/>
            <a:ext cx="8856360" cy="3623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6" name="Picture 5"/>
          <p:cNvPicPr/>
          <p:nvPr/>
        </p:nvPicPr>
        <p:blipFill>
          <a:blip r:embed="rId3"/>
          <a:stretch/>
        </p:blipFill>
        <p:spPr>
          <a:xfrm>
            <a:off x="142920" y="1619280"/>
            <a:ext cx="8856360" cy="3623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7" name="Picture 6"/>
          <p:cNvPicPr/>
          <p:nvPr/>
        </p:nvPicPr>
        <p:blipFill>
          <a:blip r:embed="rId4"/>
          <a:stretch/>
        </p:blipFill>
        <p:spPr>
          <a:xfrm>
            <a:off x="142920" y="1619280"/>
            <a:ext cx="8856360" cy="3623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8" name="Picture 7"/>
          <p:cNvPicPr/>
          <p:nvPr/>
        </p:nvPicPr>
        <p:blipFill>
          <a:blip r:embed="rId5"/>
          <a:stretch/>
        </p:blipFill>
        <p:spPr>
          <a:xfrm>
            <a:off x="142920" y="1619280"/>
            <a:ext cx="8856360" cy="362376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5" dur="indefinite" restart="never" nodeType="tmRoot">
          <p:childTnLst>
            <p:seq>
              <p:cTn id="876" dur="indefinite" nodeType="mainSeq">
                <p:childTnLst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indefinite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5" fill="hold">
                      <p:stCondLst>
                        <p:cond delay="indefinite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indefinite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Picture 4"/>
          <p:cNvPicPr/>
          <p:nvPr/>
        </p:nvPicPr>
        <p:blipFill>
          <a:blip r:embed="rId1"/>
          <a:stretch/>
        </p:blipFill>
        <p:spPr>
          <a:xfrm>
            <a:off x="139680" y="1611360"/>
            <a:ext cx="8864280" cy="3641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0" name="Picture 3"/>
          <p:cNvPicPr/>
          <p:nvPr/>
        </p:nvPicPr>
        <p:blipFill>
          <a:blip r:embed="rId2"/>
          <a:stretch/>
        </p:blipFill>
        <p:spPr>
          <a:xfrm>
            <a:off x="123840" y="1601640"/>
            <a:ext cx="8845200" cy="413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3" dur="indefinite" restart="never" nodeType="tmRoot">
          <p:childTnLst>
            <p:seq>
              <p:cTn id="894" dur="indefinite" nodeType="mainSeq">
                <p:childTnLst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4" name="Picture 4"/>
          <p:cNvPicPr/>
          <p:nvPr/>
        </p:nvPicPr>
        <p:blipFill>
          <a:blip r:embed="rId1"/>
          <a:stretch/>
        </p:blipFill>
        <p:spPr>
          <a:xfrm>
            <a:off x="1131840" y="1353960"/>
            <a:ext cx="6878160" cy="4146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5" name="Rectangle 5"/>
          <p:cNvSpPr/>
          <p:nvPr/>
        </p:nvSpPr>
        <p:spPr>
          <a:xfrm>
            <a:off x="4915080" y="4694400"/>
            <a:ext cx="306504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9" dur="indefinite" restart="never" nodeType="tmRoot">
          <p:childTnLst>
            <p:seq>
              <p:cTn id="900" dur="indefinite" nodeType="mainSeq">
                <p:childTnLst>
                  <p:par>
                    <p:cTn id="901" fill="hold">
                      <p:stCondLst>
                        <p:cond delay="indefinite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8" name="Picture 4"/>
          <p:cNvPicPr/>
          <p:nvPr/>
        </p:nvPicPr>
        <p:blipFill>
          <a:blip r:embed="rId1"/>
          <a:stretch/>
        </p:blipFill>
        <p:spPr>
          <a:xfrm>
            <a:off x="1127160" y="1353960"/>
            <a:ext cx="6887880" cy="4146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9" name="Rectangle 5"/>
          <p:cNvSpPr/>
          <p:nvPr/>
        </p:nvSpPr>
        <p:spPr>
          <a:xfrm>
            <a:off x="1158840" y="4694400"/>
            <a:ext cx="305388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2" name="Picture 4"/>
          <p:cNvPicPr/>
          <p:nvPr/>
        </p:nvPicPr>
        <p:blipFill>
          <a:blip r:embed="rId1"/>
          <a:stretch/>
        </p:blipFill>
        <p:spPr>
          <a:xfrm>
            <a:off x="1131840" y="1349280"/>
            <a:ext cx="6878160" cy="4155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03" name="Rectangle 5"/>
          <p:cNvSpPr/>
          <p:nvPr/>
        </p:nvSpPr>
        <p:spPr>
          <a:xfrm>
            <a:off x="1158840" y="3583080"/>
            <a:ext cx="305388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Rectangle 6"/>
          <p:cNvSpPr/>
          <p:nvPr/>
        </p:nvSpPr>
        <p:spPr>
          <a:xfrm>
            <a:off x="4915080" y="3583080"/>
            <a:ext cx="306504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5" dur="indefinite" restart="never" nodeType="tmRoot">
          <p:childTnLst>
            <p:seq>
              <p:cTn id="906" dur="indefinite" nodeType="mainSeq">
                <p:childTnLst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7" name="Picture 4"/>
          <p:cNvPicPr/>
          <p:nvPr/>
        </p:nvPicPr>
        <p:blipFill>
          <a:blip r:embed="rId1"/>
          <a:stretch/>
        </p:blipFill>
        <p:spPr>
          <a:xfrm>
            <a:off x="1136520" y="1353960"/>
            <a:ext cx="6868800" cy="4146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08" name="Rectangle 5"/>
          <p:cNvSpPr/>
          <p:nvPr/>
        </p:nvSpPr>
        <p:spPr>
          <a:xfrm>
            <a:off x="1158840" y="3949560"/>
            <a:ext cx="305388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Rectangle 6"/>
          <p:cNvSpPr/>
          <p:nvPr/>
        </p:nvSpPr>
        <p:spPr>
          <a:xfrm>
            <a:off x="4915080" y="3949560"/>
            <a:ext cx="306504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Rectangle 7"/>
          <p:cNvSpPr/>
          <p:nvPr/>
        </p:nvSpPr>
        <p:spPr>
          <a:xfrm>
            <a:off x="1155600" y="5057640"/>
            <a:ext cx="3053880" cy="402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Rectangle 8"/>
          <p:cNvSpPr/>
          <p:nvPr/>
        </p:nvSpPr>
        <p:spPr>
          <a:xfrm>
            <a:off x="4911840" y="5057640"/>
            <a:ext cx="3065040" cy="4028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5" dur="indefinite" restart="never" nodeType="tmRoot">
          <p:childTnLst>
            <p:seq>
              <p:cTn id="916" dur="indefinite" nodeType="mainSeq">
                <p:childTnLst>
                  <p:par>
                    <p:cTn id="917" fill="hold">
                      <p:stCondLst>
                        <p:cond delay="indefinite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indefinite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indefinite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9" fill="hold">
                      <p:stCondLst>
                        <p:cond delay="indefinite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id="9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bankiersalgoritme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4" name="Picture 1028"/>
          <p:cNvPicPr/>
          <p:nvPr/>
        </p:nvPicPr>
        <p:blipFill>
          <a:blip r:embed="rId1"/>
          <a:stretch/>
        </p:blipFill>
        <p:spPr>
          <a:xfrm>
            <a:off x="1136520" y="1353960"/>
            <a:ext cx="6868800" cy="4146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5" name="Rectangle 1029"/>
          <p:cNvSpPr/>
          <p:nvPr/>
        </p:nvSpPr>
        <p:spPr>
          <a:xfrm>
            <a:off x="1158840" y="4316400"/>
            <a:ext cx="305388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Rectangle 1030"/>
          <p:cNvSpPr/>
          <p:nvPr/>
        </p:nvSpPr>
        <p:spPr>
          <a:xfrm>
            <a:off x="4915080" y="4316400"/>
            <a:ext cx="3065040" cy="4028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nl-BE" sz="1600" b="1" i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3" dur="indefinite" restart="never" nodeType="tmRoot">
          <p:childTnLst>
            <p:seq>
              <p:cTn id="934" dur="indefinite" nodeType="mainSeq">
                <p:childTnLst>
                  <p:par>
                    <p:cTn id="935" fill="hold">
                      <p:stCondLst>
                        <p:cond delay="indefinite"/>
                      </p:stCondLst>
                      <p:childTnLst>
                        <p:par>
                          <p:cTn id="936" fill="hold">
                            <p:stCondLst>
                              <p:cond delay="0"/>
                            </p:stCondLst>
                            <p:childTnLst>
                              <p:par>
                                <p:cTn id="9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fill="hold">
                      <p:stCondLst>
                        <p:cond delay="indefinite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7772040" cy="339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deadlock strategieën: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kans op deadlocks minimaliseren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detecteren en opheffen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deadlocks vermijden door aanvragen van bronnen te analyseren en eventueel te weigeren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cc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deadlocks onmogelijk maken door één van de vier noodzakelijke voorwaarden uit te sluiten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deadlocks onmogelijk maken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PlaceHolder 2"/>
          <p:cNvSpPr>
            <a:spLocks noGrp="1"/>
          </p:cNvSpPr>
          <p:nvPr>
            <p:ph/>
          </p:nvPr>
        </p:nvSpPr>
        <p:spPr>
          <a:xfrm>
            <a:off x="685800" y="1447920"/>
            <a:ext cx="8656200" cy="339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sp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cc00"/>
              </a:buClr>
              <a:buFont typeface="Symbol" charset="2"/>
              <a:buChar char=""/>
            </a:pPr>
            <a:r>
              <a:rPr lang="nl-NL" sz="3200" b="0" u="none" strike="noStrike">
                <a:solidFill>
                  <a:srgbClr val="00cc00"/>
                </a:solidFill>
                <a:effectLst/>
                <a:uFillTx/>
                <a:latin typeface="Times New Roman"/>
              </a:rPr>
              <a:t>1 van de 4 noodzakelijke voorwaarden uitsluiten</a:t>
            </a:r>
            <a:endParaRPr lang="en-US" sz="32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resources exclusief toegewezen aan één proces, beschermd door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wederzijdse uitsluiting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processen houden resources </a:t>
            </a: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vast en wachten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op andere resources 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preëmptieve verwijdering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 van resources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"/>
            </a:pPr>
            <a:r>
              <a:rPr lang="nl-NL" sz="28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cyclisch wachten</a:t>
            </a:r>
            <a:r>
              <a:rPr lang="nl-NL" sz="28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: cyclus keten in de resourcegraaf</a:t>
            </a:r>
            <a:endParaRPr lang="en-US" sz="2800" b="0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1" name="Picture 4"/>
          <p:cNvPicPr/>
          <p:nvPr/>
        </p:nvPicPr>
        <p:blipFill>
          <a:blip r:embed="rId1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2" name="Picture 5"/>
          <p:cNvPicPr/>
          <p:nvPr/>
        </p:nvPicPr>
        <p:blipFill>
          <a:blip r:embed="rId2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3" name="Picture 6"/>
          <p:cNvPicPr/>
          <p:nvPr/>
        </p:nvPicPr>
        <p:blipFill>
          <a:blip r:embed="rId3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4" name="Picture 7"/>
          <p:cNvPicPr/>
          <p:nvPr/>
        </p:nvPicPr>
        <p:blipFill>
          <a:blip r:embed="rId4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5" name="Picture 8"/>
          <p:cNvPicPr/>
          <p:nvPr/>
        </p:nvPicPr>
        <p:blipFill>
          <a:blip r:embed="rId5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6" name="Picture 9"/>
          <p:cNvPicPr/>
          <p:nvPr/>
        </p:nvPicPr>
        <p:blipFill>
          <a:blip r:embed="rId6"/>
          <a:stretch/>
        </p:blipFill>
        <p:spPr>
          <a:xfrm>
            <a:off x="142920" y="4896000"/>
            <a:ext cx="8857800" cy="17618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3" dur="indefinite" restart="never" nodeType="tmRoot">
          <p:childTnLst>
            <p:seq>
              <p:cTn id="944" dur="indefinite" nodeType="mainSeq">
                <p:childTnLst>
                  <p:par>
                    <p:cTn id="945" fill="hold">
                      <p:stCondLst>
                        <p:cond delay="indefinite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fill="hold">
                      <p:stCondLst>
                        <p:cond delay="indefinite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3" fill="hold">
                      <p:stCondLst>
                        <p:cond delay="indefinite"/>
                      </p:stCondLst>
                      <p:childTnLst>
                        <p:par>
                          <p:cTn id="954" fill="hold">
                            <p:stCondLst>
                              <p:cond delay="0"/>
                            </p:stCondLst>
                            <p:childTnLst>
                              <p:par>
                                <p:cTn id="9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7" fill="hold">
                      <p:stCondLst>
                        <p:cond delay="indefinite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5" fill="hold">
                      <p:stCondLst>
                        <p:cond delay="indefinite"/>
                      </p:stCondLst>
                      <p:childTnLst>
                        <p:par>
                          <p:cTn id="966" fill="hold">
                            <p:stCondLst>
                              <p:cond delay="0"/>
                            </p:stCondLst>
                            <p:childTnLst>
                              <p:par>
                                <p:cTn id="9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9" fill="hold">
                      <p:stCondLst>
                        <p:cond delay="indefinite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7" fill="hold">
                      <p:stCondLst>
                        <p:cond delay="indefinite"/>
                      </p:stCondLst>
                      <p:childTnLst>
                        <p:par>
                          <p:cTn id="978" fill="hold">
                            <p:stCondLst>
                              <p:cond delay="0"/>
                            </p:stCondLst>
                            <p:childTnLst>
                              <p:par>
                                <p:cTn id="9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1" fill="hold">
                      <p:stCondLst>
                        <p:cond delay="indefinite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 pitchFamily="0" charset="1"/>
        <a:ea typeface=""/>
        <a:cs typeface=""/>
      </a:majorFont>
      <a:minorFont>
        <a:latin typeface="Times New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9525</TotalTime>
  <Application>LibreOffice/25.8.4.2$Linux_X86_64 LibreOffice_project/580$Build-2</Application>
  <AppVersion>15.0000</AppVersion>
  <Words>10988</Words>
  <Paragraphs>3592</Paragraphs>
  <Company>Hogeschool Gent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2000-02-03T17:16:46Z</dcterms:created>
  <dc:creator>Joris Moreau</dc:creator>
  <dc:description/>
  <dc:language>en-US</dc:language>
  <cp:lastModifiedBy>Joris Moreau</cp:lastModifiedBy>
  <dcterms:modified xsi:type="dcterms:W3CDTF">2017-04-27T12:41:44Z</dcterms:modified>
  <cp:revision>199</cp:revision>
  <dc:subject/>
  <dc:title>Architectuur van besturingssystemen/Gelijktijdigheid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184</vt:r8>
  </property>
</Properties>
</file>